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68" r:id="rId5"/>
    <p:sldId id="259" r:id="rId6"/>
    <p:sldId id="260" r:id="rId7"/>
    <p:sldId id="261" r:id="rId8"/>
    <p:sldId id="262" r:id="rId9"/>
    <p:sldId id="263" r:id="rId10"/>
    <p:sldId id="266" r:id="rId11"/>
    <p:sldId id="264" r:id="rId12"/>
    <p:sldId id="265" r:id="rId13"/>
  </p:sldIdLst>
  <p:sldSz cx="9144000" cy="6858000" type="screen4x3"/>
  <p:notesSz cx="6858000" cy="9144000"/>
  <p:embeddedFontLst>
    <p:embeddedFont>
      <p:font typeface="Libre Baskerville" panose="02000000000000000000" pitchFamily="2" charset="0"/>
      <p:regular r:id="rId15"/>
      <p:bold r:id="rId16"/>
      <p:italic r:id="rId17"/>
    </p:embeddedFont>
    <p:embeddedFont>
      <p:font typeface="Libre Franklin"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juV+PgDV81l0ddLuLabMJ55qr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p:scale>
          <a:sx n="100" d="100"/>
          <a:sy n="100" d="100"/>
        </p:scale>
        <p:origin x="907" y="-5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0" name="Google Shape;15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rotWithShape="1">
          <a:blip r:embed="rId2">
            <a:alphaModFix/>
          </a:blip>
          <a:tile tx="0" ty="0" sx="55000" sy="55000" flip="none" algn="tl"/>
        </a:blipFill>
        <a:effectLst/>
      </p:bgPr>
    </p:bg>
    <p:spTree>
      <p:nvGrpSpPr>
        <p:cNvPr id="1" name="Shape 17"/>
        <p:cNvGrpSpPr/>
        <p:nvPr/>
      </p:nvGrpSpPr>
      <p:grpSpPr>
        <a:xfrm>
          <a:off x="0" y="0"/>
          <a:ext cx="0" cy="0"/>
          <a:chOff x="0" y="0"/>
          <a:chExt cx="0" cy="0"/>
        </a:xfrm>
      </p:grpSpPr>
      <p:sp>
        <p:nvSpPr>
          <p:cNvPr id="18" name="Google Shape;18;p12"/>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9" name="Google Shape;19;p12"/>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0" name="Google Shape;20;p12"/>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a:endParaRPr/>
          </a:p>
        </p:txBody>
      </p:sp>
      <p:sp>
        <p:nvSpPr>
          <p:cNvPr id="21" name="Google Shape;21;p1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sz="1400" b="0" i="0" u="none" strike="noStrike" cap="none">
                <a:solidFill>
                  <a:srgbClr val="FFFFFF"/>
                </a:solidFill>
                <a:latin typeface="Libre Franklin"/>
                <a:ea typeface="Libre Franklin"/>
                <a:cs typeface="Libre Franklin"/>
                <a:sym typeface="Libre Franklin"/>
              </a:defRPr>
            </a:lvl1pPr>
            <a:lvl2pPr marL="0" lvl="1" indent="0" algn="ctr">
              <a:spcBef>
                <a:spcPts val="0"/>
              </a:spcBef>
              <a:buNone/>
              <a:defRPr sz="1400" b="0" i="0" u="none" strike="noStrike" cap="none">
                <a:solidFill>
                  <a:srgbClr val="FFFFFF"/>
                </a:solidFill>
                <a:latin typeface="Libre Franklin"/>
                <a:ea typeface="Libre Franklin"/>
                <a:cs typeface="Libre Franklin"/>
                <a:sym typeface="Libre Franklin"/>
              </a:defRPr>
            </a:lvl2pPr>
            <a:lvl3pPr marL="0" lvl="2" indent="0" algn="ctr">
              <a:spcBef>
                <a:spcPts val="0"/>
              </a:spcBef>
              <a:buNone/>
              <a:defRPr sz="1400" b="0" i="0" u="none" strike="noStrike" cap="none">
                <a:solidFill>
                  <a:srgbClr val="FFFFFF"/>
                </a:solidFill>
                <a:latin typeface="Libre Franklin"/>
                <a:ea typeface="Libre Franklin"/>
                <a:cs typeface="Libre Franklin"/>
                <a:sym typeface="Libre Franklin"/>
              </a:defRPr>
            </a:lvl3pPr>
            <a:lvl4pPr marL="0" lvl="3" indent="0" algn="ctr">
              <a:spcBef>
                <a:spcPts val="0"/>
              </a:spcBef>
              <a:buNone/>
              <a:defRPr sz="1400" b="0" i="0" u="none" strike="noStrike" cap="none">
                <a:solidFill>
                  <a:srgbClr val="FFFFFF"/>
                </a:solidFill>
                <a:latin typeface="Libre Franklin"/>
                <a:ea typeface="Libre Franklin"/>
                <a:cs typeface="Libre Franklin"/>
                <a:sym typeface="Libre Franklin"/>
              </a:defRPr>
            </a:lvl4pPr>
            <a:lvl5pPr marL="0" lvl="4" indent="0" algn="ctr">
              <a:spcBef>
                <a:spcPts val="0"/>
              </a:spcBef>
              <a:buNone/>
              <a:defRPr sz="1400" b="0" i="0" u="none" strike="noStrike" cap="none">
                <a:solidFill>
                  <a:srgbClr val="FFFFFF"/>
                </a:solidFill>
                <a:latin typeface="Libre Franklin"/>
                <a:ea typeface="Libre Franklin"/>
                <a:cs typeface="Libre Franklin"/>
                <a:sym typeface="Libre Franklin"/>
              </a:defRPr>
            </a:lvl5pPr>
            <a:lvl6pPr marL="0" lvl="5" indent="0" algn="ctr">
              <a:spcBef>
                <a:spcPts val="0"/>
              </a:spcBef>
              <a:buNone/>
              <a:defRPr sz="1400" b="0" i="0" u="none" strike="noStrike" cap="none">
                <a:solidFill>
                  <a:srgbClr val="FFFFFF"/>
                </a:solidFill>
                <a:latin typeface="Libre Franklin"/>
                <a:ea typeface="Libre Franklin"/>
                <a:cs typeface="Libre Franklin"/>
                <a:sym typeface="Libre Franklin"/>
              </a:defRPr>
            </a:lvl6pPr>
            <a:lvl7pPr marL="0" lvl="6" indent="0" algn="ctr">
              <a:spcBef>
                <a:spcPts val="0"/>
              </a:spcBef>
              <a:buNone/>
              <a:defRPr sz="1400" b="0" i="0" u="none" strike="noStrike" cap="none">
                <a:solidFill>
                  <a:srgbClr val="FFFFFF"/>
                </a:solidFill>
                <a:latin typeface="Libre Franklin"/>
                <a:ea typeface="Libre Franklin"/>
                <a:cs typeface="Libre Franklin"/>
                <a:sym typeface="Libre Franklin"/>
              </a:defRPr>
            </a:lvl7pPr>
            <a:lvl8pPr marL="0" lvl="7" indent="0" algn="ctr">
              <a:spcBef>
                <a:spcPts val="0"/>
              </a:spcBef>
              <a:buNone/>
              <a:defRPr sz="1400" b="0" i="0" u="none" strike="noStrike" cap="none">
                <a:solidFill>
                  <a:srgbClr val="FFFFFF"/>
                </a:solidFill>
                <a:latin typeface="Libre Franklin"/>
                <a:ea typeface="Libre Franklin"/>
                <a:cs typeface="Libre Franklin"/>
                <a:sym typeface="Libre Franklin"/>
              </a:defRPr>
            </a:lvl8pPr>
            <a:lvl9pPr marL="0" lvl="8" indent="0" algn="ctr">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
        <p:nvSpPr>
          <p:cNvPr id="24" name="Google Shape;24;p12"/>
          <p:cNvSpPr/>
          <p:nvPr/>
        </p:nvSpPr>
        <p:spPr>
          <a:xfrm>
            <a:off x="62931" y="1449303"/>
            <a:ext cx="9021537" cy="152734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5" name="Google Shape;25;p12"/>
          <p:cNvSpPr/>
          <p:nvPr/>
        </p:nvSpPr>
        <p:spPr>
          <a:xfrm>
            <a:off x="62931" y="1396720"/>
            <a:ext cx="9021537" cy="12058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6" name="Google Shape;26;p12"/>
          <p:cNvSpPr/>
          <p:nvPr/>
        </p:nvSpPr>
        <p:spPr>
          <a:xfrm>
            <a:off x="62931" y="2976649"/>
            <a:ext cx="9021537" cy="1105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7" name="Google Shape;27;p12"/>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3" name="Google Shape;33;p1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55000" sy="55000" flip="none" algn="tl"/>
        </a:blipFill>
        <a:effectLst/>
      </p:bgPr>
    </p:bg>
    <p:spTree>
      <p:nvGrpSpPr>
        <p:cNvPr id="1" name="Shape 34"/>
        <p:cNvGrpSpPr/>
        <p:nvPr/>
      </p:nvGrpSpPr>
      <p:grpSpPr>
        <a:xfrm>
          <a:off x="0" y="0"/>
          <a:ext cx="0" cy="0"/>
          <a:chOff x="0" y="0"/>
          <a:chExt cx="0" cy="0"/>
        </a:xfrm>
      </p:grpSpPr>
      <p:sp>
        <p:nvSpPr>
          <p:cNvPr id="35" name="Google Shape;35;p14"/>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36" name="Google Shape;36;p14"/>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37" name="Google Shape;37;p14"/>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Libre Baskerville"/>
              <a:buNone/>
              <a:defRPr sz="1400">
                <a:solidFill>
                  <a:srgbClr val="888888"/>
                </a:solidFill>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39" name="Google Shape;39;p1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4"/>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4"/>
          <p:cNvSpPr/>
          <p:nvPr/>
        </p:nvSpPr>
        <p:spPr>
          <a:xfrm rot="10800000" flipH="1">
            <a:off x="69412" y="2376830"/>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2" name="Google Shape;42;p14"/>
          <p:cNvSpPr/>
          <p:nvPr/>
        </p:nvSpPr>
        <p:spPr>
          <a:xfrm>
            <a:off x="69146" y="2341475"/>
            <a:ext cx="9013781"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3" name="Google Shape;43;p14"/>
          <p:cNvSpPr/>
          <p:nvPr/>
        </p:nvSpPr>
        <p:spPr>
          <a:xfrm>
            <a:off x="68306" y="2468880"/>
            <a:ext cx="9014621" cy="4572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4" name="Google Shape;44;p14"/>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5"/>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50" name="Google Shape;50;p15"/>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1" name="Google Shape;51;p15"/>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16"/>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6"/>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5" name="Google Shape;55;p16"/>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6" name="Google Shape;56;p1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6"/>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59" name="Google Shape;59;p16"/>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0" name="Google Shape;60;p16"/>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9"/>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72" name="Google Shape;72;p19"/>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73" name="Google Shape;73;p19"/>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530"/>
              <a:buNone/>
              <a:defRPr sz="1800"/>
            </a:lvl1pPr>
            <a:lvl2pPr marL="914400" lvl="1" indent="-228600" algn="l">
              <a:spcBef>
                <a:spcPts val="370"/>
              </a:spcBef>
              <a:spcAft>
                <a:spcPts val="0"/>
              </a:spcAft>
              <a:buSzPts val="1020"/>
              <a:buNone/>
              <a:defRPr sz="1200"/>
            </a:lvl2pPr>
            <a:lvl3pPr marL="1371600" lvl="2" indent="-228600" algn="l">
              <a:spcBef>
                <a:spcPts val="370"/>
              </a:spcBef>
              <a:spcAft>
                <a:spcPts val="0"/>
              </a:spcAft>
              <a:buSzPts val="850"/>
              <a:buNone/>
              <a:defRPr sz="1000"/>
            </a:lvl3pPr>
            <a:lvl4pPr marL="1828800" lvl="3" indent="-228600" algn="l">
              <a:spcBef>
                <a:spcPts val="370"/>
              </a:spcBef>
              <a:spcAft>
                <a:spcPts val="0"/>
              </a:spcAft>
              <a:buSzPts val="720"/>
              <a:buNone/>
              <a:defRPr sz="900"/>
            </a:lvl4pPr>
            <a:lvl5pPr marL="2286000" lvl="4" indent="-228600" algn="l">
              <a:spcBef>
                <a:spcPts val="370"/>
              </a:spcBef>
              <a:spcAft>
                <a:spcPts val="0"/>
              </a:spcAft>
              <a:buSzPts val="900"/>
              <a:buFont typeface="Libre Baskerville"/>
              <a:buNone/>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75" name="Google Shape;75;p1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8" name="Google Shape;78;p19"/>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spcBef>
                <a:spcPts val="0"/>
              </a:spcBef>
              <a:spcAft>
                <a:spcPts val="0"/>
              </a:spcAft>
              <a:buClr>
                <a:schemeClr val="dk2"/>
              </a:buClr>
              <a:buSzPts val="2800"/>
              <a:buFont typeface="Libre Franklin"/>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0"/>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360"/>
              <a:buFont typeface="Libre Baskerville"/>
              <a:buNone/>
              <a:defRPr sz="1600"/>
            </a:lvl1pPr>
            <a:lvl2pPr marL="914400" lvl="1" indent="-293369" algn="l">
              <a:spcBef>
                <a:spcPts val="370"/>
              </a:spcBef>
              <a:spcAft>
                <a:spcPts val="0"/>
              </a:spcAft>
              <a:buSzPts val="1020"/>
              <a:buChar char="⚫"/>
              <a:defRPr sz="1200"/>
            </a:lvl2pPr>
            <a:lvl3pPr marL="1371600" lvl="2" indent="-282575" algn="l">
              <a:spcBef>
                <a:spcPts val="370"/>
              </a:spcBef>
              <a:spcAft>
                <a:spcPts val="0"/>
              </a:spcAft>
              <a:buSzPts val="850"/>
              <a:buChar char="⚫"/>
              <a:defRPr sz="1000"/>
            </a:lvl3pPr>
            <a:lvl4pPr marL="1828800" lvl="3" indent="-274319" algn="l">
              <a:spcBef>
                <a:spcPts val="370"/>
              </a:spcBef>
              <a:spcAft>
                <a:spcPts val="0"/>
              </a:spcAft>
              <a:buSzPts val="720"/>
              <a:buChar char="⚫"/>
              <a:defRPr sz="900"/>
            </a:lvl4pPr>
            <a:lvl5pPr marL="2286000" lvl="4" indent="-285750" algn="l">
              <a:spcBef>
                <a:spcPts val="370"/>
              </a:spcBef>
              <a:spcAft>
                <a:spcPts val="0"/>
              </a:spcAft>
              <a:buSzPts val="900"/>
              <a:buFont typeface="Libre Baskerville"/>
              <a:buChar char="o"/>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82" name="Google Shape;82;p2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0"/>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5" name="Google Shape;85;p20"/>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6" name="Google Shape;86;p20"/>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7" name="Google Shape;87;p20"/>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8" name="Google Shape;88;p20"/>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1"/>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2" name="Google Shape;92;p2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5"/>
        <p:cNvGrpSpPr/>
        <p:nvPr/>
      </p:nvGrpSpPr>
      <p:grpSpPr>
        <a:xfrm>
          <a:off x="0" y="0"/>
          <a:ext cx="0" cy="0"/>
          <a:chOff x="0" y="0"/>
          <a:chExt cx="0" cy="0"/>
        </a:xfrm>
      </p:grpSpPr>
      <p:sp>
        <p:nvSpPr>
          <p:cNvPr id="96" name="Google Shape;96;p22"/>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2"/>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8" name="Google Shape;98;p2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1" name="Google Shape;11;p11"/>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2" name="Google Shape;12;p1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marR="0" lvl="0" algn="l" rtl="0">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spcBef>
                <a:spcPts val="370"/>
              </a:spcBef>
              <a:spcAft>
                <a:spcPts val="0"/>
              </a:spcAft>
              <a:buClr>
                <a:schemeClr val="accent3"/>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1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5" name="Google Shape;15;p1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6" name="Google Shape;16;p1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spcBef>
                <a:spcPts val="0"/>
              </a:spcBef>
              <a:buNone/>
              <a:defRPr sz="1400" b="0" i="0" u="none" strike="noStrike" cap="none">
                <a:solidFill>
                  <a:srgbClr val="FFFFFF"/>
                </a:solidFill>
                <a:latin typeface="Libre Franklin"/>
                <a:ea typeface="Libre Franklin"/>
                <a:cs typeface="Libre Franklin"/>
                <a:sym typeface="Libre Franklin"/>
              </a:defRPr>
            </a:lvl1pPr>
            <a:lvl2pPr marL="0" marR="0" lvl="1" indent="0" algn="ctr" rtl="0">
              <a:spcBef>
                <a:spcPts val="0"/>
              </a:spcBef>
              <a:buNone/>
              <a:defRPr sz="1400" b="0" i="0" u="none" strike="noStrike" cap="none">
                <a:solidFill>
                  <a:srgbClr val="FFFFFF"/>
                </a:solidFill>
                <a:latin typeface="Libre Franklin"/>
                <a:ea typeface="Libre Franklin"/>
                <a:cs typeface="Libre Franklin"/>
                <a:sym typeface="Libre Franklin"/>
              </a:defRPr>
            </a:lvl2pPr>
            <a:lvl3pPr marL="0" marR="0" lvl="2" indent="0" algn="ctr" rtl="0">
              <a:spcBef>
                <a:spcPts val="0"/>
              </a:spcBef>
              <a:buNone/>
              <a:defRPr sz="1400" b="0" i="0" u="none" strike="noStrike" cap="none">
                <a:solidFill>
                  <a:srgbClr val="FFFFFF"/>
                </a:solidFill>
                <a:latin typeface="Libre Franklin"/>
                <a:ea typeface="Libre Franklin"/>
                <a:cs typeface="Libre Franklin"/>
                <a:sym typeface="Libre Franklin"/>
              </a:defRPr>
            </a:lvl3pPr>
            <a:lvl4pPr marL="0" marR="0" lvl="3" indent="0" algn="ctr" rtl="0">
              <a:spcBef>
                <a:spcPts val="0"/>
              </a:spcBef>
              <a:buNone/>
              <a:defRPr sz="1400" b="0" i="0" u="none" strike="noStrike" cap="none">
                <a:solidFill>
                  <a:srgbClr val="FFFFFF"/>
                </a:solidFill>
                <a:latin typeface="Libre Franklin"/>
                <a:ea typeface="Libre Franklin"/>
                <a:cs typeface="Libre Franklin"/>
                <a:sym typeface="Libre Franklin"/>
              </a:defRPr>
            </a:lvl4pPr>
            <a:lvl5pPr marL="0" marR="0" lvl="4" indent="0" algn="ctr" rtl="0">
              <a:spcBef>
                <a:spcPts val="0"/>
              </a:spcBef>
              <a:buNone/>
              <a:defRPr sz="1400" b="0" i="0" u="none" strike="noStrike" cap="none">
                <a:solidFill>
                  <a:srgbClr val="FFFFFF"/>
                </a:solidFill>
                <a:latin typeface="Libre Franklin"/>
                <a:ea typeface="Libre Franklin"/>
                <a:cs typeface="Libre Franklin"/>
                <a:sym typeface="Libre Franklin"/>
              </a:defRPr>
            </a:lvl5pPr>
            <a:lvl6pPr marL="0" marR="0" lvl="5" indent="0" algn="ctr" rtl="0">
              <a:spcBef>
                <a:spcPts val="0"/>
              </a:spcBef>
              <a:buNone/>
              <a:defRPr sz="1400" b="0" i="0" u="none" strike="noStrike" cap="none">
                <a:solidFill>
                  <a:srgbClr val="FFFFFF"/>
                </a:solidFill>
                <a:latin typeface="Libre Franklin"/>
                <a:ea typeface="Libre Franklin"/>
                <a:cs typeface="Libre Franklin"/>
                <a:sym typeface="Libre Franklin"/>
              </a:defRPr>
            </a:lvl6pPr>
            <a:lvl7pPr marL="0" marR="0" lvl="6" indent="0" algn="ctr" rtl="0">
              <a:spcBef>
                <a:spcPts val="0"/>
              </a:spcBef>
              <a:buNone/>
              <a:defRPr sz="1400" b="0" i="0" u="none" strike="noStrike" cap="none">
                <a:solidFill>
                  <a:srgbClr val="FFFFFF"/>
                </a:solidFill>
                <a:latin typeface="Libre Franklin"/>
                <a:ea typeface="Libre Franklin"/>
                <a:cs typeface="Libre Franklin"/>
                <a:sym typeface="Libre Franklin"/>
              </a:defRPr>
            </a:lvl7pPr>
            <a:lvl8pPr marL="0" marR="0" lvl="7" indent="0" algn="ctr" rtl="0">
              <a:spcBef>
                <a:spcPts val="0"/>
              </a:spcBef>
              <a:buNone/>
              <a:defRPr sz="1400" b="0" i="0" u="none" strike="noStrike" cap="none">
                <a:solidFill>
                  <a:srgbClr val="FFFFFF"/>
                </a:solidFill>
                <a:latin typeface="Libre Franklin"/>
                <a:ea typeface="Libre Franklin"/>
                <a:cs typeface="Libre Franklin"/>
                <a:sym typeface="Libre Franklin"/>
              </a:defRPr>
            </a:lvl8pPr>
            <a:lvl9pPr marL="0" marR="0" lvl="8" indent="0" algn="ctr" rtl="0">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subTitle" idx="1"/>
          </p:nvPr>
        </p:nvSpPr>
        <p:spPr>
          <a:xfrm>
            <a:off x="4425075" y="3912400"/>
            <a:ext cx="4528500" cy="2438400"/>
          </a:xfrm>
          <a:prstGeom prst="rect">
            <a:avLst/>
          </a:prstGeom>
          <a:noFill/>
          <a:ln>
            <a:noFill/>
          </a:ln>
        </p:spPr>
        <p:txBody>
          <a:bodyPr spcFirstLastPara="1" wrap="square" lIns="91425" tIns="45700" rIns="91425" bIns="45700" anchor="t" anchorCtr="0">
            <a:normAutofit fontScale="92500"/>
          </a:bodyPr>
          <a:lstStyle/>
          <a:p>
            <a:pPr marL="0" lvl="0" indent="0" algn="r" rtl="0">
              <a:spcBef>
                <a:spcPts val="0"/>
              </a:spcBef>
              <a:spcAft>
                <a:spcPts val="0"/>
              </a:spcAft>
              <a:buSzPct val="85000"/>
              <a:buNone/>
            </a:pPr>
            <a:r>
              <a:rPr lang="en-US" sz="2900" b="1" i="1">
                <a:latin typeface="Times New Roman"/>
                <a:ea typeface="Times New Roman"/>
                <a:cs typeface="Times New Roman"/>
                <a:sym typeface="Times New Roman"/>
              </a:rPr>
              <a:t>Presented by</a:t>
            </a:r>
            <a:endParaRPr/>
          </a:p>
          <a:p>
            <a:pPr marL="0" lvl="0" indent="0" algn="r" rtl="0">
              <a:lnSpc>
                <a:spcPct val="120000"/>
              </a:lnSpc>
              <a:spcBef>
                <a:spcPts val="580"/>
              </a:spcBef>
              <a:spcAft>
                <a:spcPts val="0"/>
              </a:spcAft>
              <a:buSzPct val="85000"/>
              <a:buNone/>
            </a:pPr>
            <a:r>
              <a:rPr lang="en-US" sz="2300" b="1">
                <a:latin typeface="Times New Roman"/>
                <a:ea typeface="Times New Roman"/>
                <a:cs typeface="Times New Roman"/>
                <a:sym typeface="Times New Roman"/>
              </a:rPr>
              <a:t>KEERTHIVASAN.A(721221205021),</a:t>
            </a:r>
            <a:endParaRPr/>
          </a:p>
          <a:p>
            <a:pPr marL="0" lvl="0" indent="0" algn="r" rtl="0">
              <a:lnSpc>
                <a:spcPct val="120000"/>
              </a:lnSpc>
              <a:spcBef>
                <a:spcPts val="580"/>
              </a:spcBef>
              <a:spcAft>
                <a:spcPts val="0"/>
              </a:spcAft>
              <a:buSzPct val="85000"/>
              <a:buNone/>
            </a:pPr>
            <a:r>
              <a:rPr lang="en-US" sz="2300" b="1">
                <a:latin typeface="Times New Roman"/>
                <a:ea typeface="Times New Roman"/>
                <a:cs typeface="Times New Roman"/>
                <a:sym typeface="Times New Roman"/>
              </a:rPr>
              <a:t>LINGESH.L(721221205024),</a:t>
            </a:r>
            <a:endParaRPr/>
          </a:p>
          <a:p>
            <a:pPr marL="0" lvl="0" indent="0" algn="r" rtl="0">
              <a:spcBef>
                <a:spcPts val="580"/>
              </a:spcBef>
              <a:spcAft>
                <a:spcPts val="0"/>
              </a:spcAft>
              <a:buSzPct val="85000"/>
              <a:buNone/>
            </a:pPr>
            <a:r>
              <a:rPr lang="en-US" sz="1800" b="1">
                <a:latin typeface="Times New Roman"/>
                <a:ea typeface="Times New Roman"/>
                <a:cs typeface="Times New Roman"/>
                <a:sym typeface="Times New Roman"/>
              </a:rPr>
              <a:t>Department of Information Technology, </a:t>
            </a:r>
            <a:endParaRPr/>
          </a:p>
          <a:p>
            <a:pPr marL="0" lvl="0" indent="0" algn="r" rtl="0">
              <a:spcBef>
                <a:spcPts val="580"/>
              </a:spcBef>
              <a:spcAft>
                <a:spcPts val="0"/>
              </a:spcAft>
              <a:buSzPct val="85000"/>
              <a:buNone/>
            </a:pPr>
            <a:r>
              <a:rPr lang="en-US" sz="1800" b="1">
                <a:latin typeface="Times New Roman"/>
                <a:ea typeface="Times New Roman"/>
                <a:cs typeface="Times New Roman"/>
                <a:sym typeface="Times New Roman"/>
              </a:rPr>
              <a:t>Karpagam Institute of Technology, </a:t>
            </a:r>
            <a:endParaRPr/>
          </a:p>
          <a:p>
            <a:pPr marL="0" lvl="0" indent="0" algn="r" rtl="0">
              <a:spcBef>
                <a:spcPts val="580"/>
              </a:spcBef>
              <a:spcAft>
                <a:spcPts val="0"/>
              </a:spcAft>
              <a:buSzPct val="85000"/>
              <a:buNone/>
            </a:pPr>
            <a:r>
              <a:rPr lang="en-US" sz="1800" b="1">
                <a:latin typeface="Times New Roman"/>
                <a:ea typeface="Times New Roman"/>
                <a:cs typeface="Times New Roman"/>
                <a:sym typeface="Times New Roman"/>
              </a:rPr>
              <a:t>Coimbatore. </a:t>
            </a:r>
            <a:endParaRPr/>
          </a:p>
        </p:txBody>
      </p:sp>
      <p:sp>
        <p:nvSpPr>
          <p:cNvPr id="106" name="Google Shape;106;p1"/>
          <p:cNvSpPr txBox="1">
            <a:spLocks noGrp="1"/>
          </p:cNvSpPr>
          <p:nvPr>
            <p:ph type="ctrTitle"/>
          </p:nvPr>
        </p:nvSpPr>
        <p:spPr>
          <a:xfrm>
            <a:off x="76202" y="1499877"/>
            <a:ext cx="9067798" cy="1470025"/>
          </a:xfrm>
          <a:prstGeom prst="rect">
            <a:avLst/>
          </a:prstGeom>
          <a:noFill/>
          <a:ln>
            <a:noFill/>
          </a:ln>
        </p:spPr>
        <p:txBody>
          <a:bodyPr spcFirstLastPara="1" wrap="square" lIns="91425" tIns="45700" rIns="91425" bIns="91425" anchor="ctr" anchorCtr="0">
            <a:normAutofit/>
          </a:bodyPr>
          <a:lstStyle/>
          <a:p>
            <a:pPr marL="0" lvl="0" indent="0" algn="ctr" rtl="0">
              <a:spcBef>
                <a:spcPts val="0"/>
              </a:spcBef>
              <a:spcAft>
                <a:spcPts val="0"/>
              </a:spcAft>
              <a:buClr>
                <a:srgbClr val="FFFFFF"/>
              </a:buClr>
              <a:buSzPts val="2800"/>
              <a:buFont typeface="Times New Roman"/>
              <a:buNone/>
            </a:pPr>
            <a:r>
              <a:rPr lang="en-US" sz="2800" b="1" dirty="0">
                <a:latin typeface="Times New Roman"/>
                <a:cs typeface="Times New Roman"/>
                <a:sym typeface="Times New Roman"/>
              </a:rPr>
              <a:t>Nuclear Power Plant Fault Detection Device Using IOT</a:t>
            </a:r>
            <a:endParaRPr sz="2800" dirty="0"/>
          </a:p>
        </p:txBody>
      </p:sp>
      <p:sp>
        <p:nvSpPr>
          <p:cNvPr id="107" name="Google Shape;107;p1"/>
          <p:cNvSpPr/>
          <p:nvPr/>
        </p:nvSpPr>
        <p:spPr>
          <a:xfrm>
            <a:off x="2256987" y="485294"/>
            <a:ext cx="4630026"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Times New Roman"/>
                <a:ea typeface="Times New Roman"/>
                <a:cs typeface="Times New Roman"/>
                <a:sym typeface="Times New Roman"/>
              </a:rPr>
              <a:t>FINAL</a:t>
            </a:r>
            <a:r>
              <a:rPr lang="en-US" sz="4000" b="1" i="0" u="none" strike="noStrike" cap="none" dirty="0">
                <a:solidFill>
                  <a:schemeClr val="dk1"/>
                </a:solidFill>
                <a:latin typeface="Times New Roman"/>
                <a:ea typeface="Times New Roman"/>
                <a:cs typeface="Times New Roman"/>
                <a:sym typeface="Times New Roman"/>
              </a:rPr>
              <a:t> REVIEW</a:t>
            </a:r>
            <a:endParaRPr sz="4000" b="0" i="0" u="none" strike="noStrike" cap="none" dirty="0">
              <a:solidFill>
                <a:schemeClr val="dk1"/>
              </a:solidFill>
              <a:latin typeface="Libre Baskerville"/>
              <a:ea typeface="Libre Baskerville"/>
              <a:cs typeface="Libre Baskerville"/>
              <a:sym typeface="Libre Baskerville"/>
            </a:endParaRPr>
          </a:p>
        </p:txBody>
      </p:sp>
      <p:sp>
        <p:nvSpPr>
          <p:cNvPr id="108" name="Google Shape;108;p1"/>
          <p:cNvSpPr txBox="1"/>
          <p:nvPr/>
        </p:nvSpPr>
        <p:spPr>
          <a:xfrm>
            <a:off x="304800" y="3912411"/>
            <a:ext cx="4038600" cy="2669408"/>
          </a:xfrm>
          <a:prstGeom prst="rect">
            <a:avLst/>
          </a:prstGeom>
          <a:noFill/>
          <a:ln>
            <a:noFill/>
          </a:ln>
        </p:spPr>
        <p:txBody>
          <a:bodyPr spcFirstLastPara="1" wrap="square" lIns="91425" tIns="45700" rIns="91425" bIns="45700" anchor="t" anchorCtr="0">
            <a:spAutoFit/>
          </a:bodyPr>
          <a:lstStyle/>
          <a:p>
            <a:pPr marL="12700" marR="977265">
              <a:lnSpc>
                <a:spcPct val="124700"/>
              </a:lnSpc>
              <a:spcBef>
                <a:spcPts val="175"/>
              </a:spcBef>
            </a:pPr>
            <a:r>
              <a:rPr lang="en-US" sz="2400" b="1" i="1" dirty="0" err="1">
                <a:solidFill>
                  <a:srgbClr val="686464"/>
                </a:solidFill>
                <a:latin typeface="Times New Roman"/>
                <a:cs typeface="Times New Roman"/>
              </a:rPr>
              <a:t>Guided</a:t>
            </a:r>
            <a:r>
              <a:rPr lang="en-US" sz="2400" b="1" i="1" spc="-25" dirty="0" err="1">
                <a:solidFill>
                  <a:srgbClr val="686464"/>
                </a:solidFill>
                <a:latin typeface="Times New Roman"/>
                <a:cs typeface="Times New Roman"/>
              </a:rPr>
              <a:t>By</a:t>
            </a:r>
            <a:r>
              <a:rPr lang="en-US" sz="2400" b="1" i="1" spc="-25" dirty="0">
                <a:solidFill>
                  <a:srgbClr val="686464"/>
                </a:solidFill>
                <a:latin typeface="Times New Roman"/>
                <a:cs typeface="Times New Roman"/>
              </a:rPr>
              <a:t>,</a:t>
            </a:r>
          </a:p>
          <a:p>
            <a:pPr marL="12700" marR="977265">
              <a:lnSpc>
                <a:spcPct val="124700"/>
              </a:lnSpc>
              <a:spcBef>
                <a:spcPts val="175"/>
              </a:spcBef>
            </a:pPr>
            <a:r>
              <a:rPr lang="en-US" b="1" i="1" spc="-25" dirty="0" err="1">
                <a:solidFill>
                  <a:srgbClr val="686464"/>
                </a:solidFill>
                <a:latin typeface="Times New Roman"/>
                <a:cs typeface="Times New Roman"/>
              </a:rPr>
              <a:t>Mrs.Gokila</a:t>
            </a:r>
            <a:r>
              <a:rPr lang="en-US" b="1" i="1" spc="-25" dirty="0">
                <a:solidFill>
                  <a:srgbClr val="686464"/>
                </a:solidFill>
                <a:latin typeface="Times New Roman"/>
                <a:cs typeface="Times New Roman"/>
              </a:rPr>
              <a:t> S</a:t>
            </a:r>
            <a:r>
              <a:rPr lang="en-US" sz="2800" b="1" spc="-50" dirty="0">
                <a:solidFill>
                  <a:srgbClr val="686464"/>
                </a:solidFill>
                <a:latin typeface="Times New Roman"/>
                <a:cs typeface="Times New Roman"/>
              </a:rPr>
              <a:t> </a:t>
            </a:r>
          </a:p>
          <a:p>
            <a:pPr marL="12700" marR="977265">
              <a:lnSpc>
                <a:spcPct val="124700"/>
              </a:lnSpc>
              <a:spcBef>
                <a:spcPts val="175"/>
              </a:spcBef>
            </a:pPr>
            <a:r>
              <a:rPr lang="en-US" b="1" dirty="0">
                <a:solidFill>
                  <a:srgbClr val="686464"/>
                </a:solidFill>
                <a:latin typeface="Times New Roman"/>
                <a:cs typeface="Times New Roman"/>
              </a:rPr>
              <a:t>Assistant </a:t>
            </a:r>
            <a:r>
              <a:rPr lang="en-US" b="1" spc="-10" dirty="0">
                <a:solidFill>
                  <a:srgbClr val="686464"/>
                </a:solidFill>
                <a:latin typeface="Times New Roman"/>
                <a:cs typeface="Times New Roman"/>
              </a:rPr>
              <a:t>Professor,</a:t>
            </a:r>
            <a:endParaRPr lang="en-US" dirty="0">
              <a:latin typeface="Times New Roman"/>
              <a:cs typeface="Times New Roman"/>
            </a:endParaRPr>
          </a:p>
          <a:p>
            <a:pPr marL="12700" marR="5080">
              <a:lnSpc>
                <a:spcPct val="134500"/>
              </a:lnSpc>
              <a:spcBef>
                <a:spcPts val="15"/>
              </a:spcBef>
            </a:pPr>
            <a:r>
              <a:rPr lang="en-US" sz="1400" b="1" dirty="0">
                <a:solidFill>
                  <a:srgbClr val="686464"/>
                </a:solidFill>
                <a:latin typeface="Times New Roman"/>
                <a:cs typeface="Times New Roman"/>
              </a:rPr>
              <a:t>Department</a:t>
            </a:r>
            <a:r>
              <a:rPr lang="en-US" sz="1400" b="1" spc="-20" dirty="0">
                <a:solidFill>
                  <a:srgbClr val="686464"/>
                </a:solidFill>
                <a:latin typeface="Times New Roman"/>
                <a:cs typeface="Times New Roman"/>
              </a:rPr>
              <a:t> </a:t>
            </a:r>
            <a:r>
              <a:rPr lang="en-US" sz="1400" b="1" dirty="0">
                <a:solidFill>
                  <a:srgbClr val="686464"/>
                </a:solidFill>
                <a:latin typeface="Times New Roman"/>
                <a:cs typeface="Times New Roman"/>
              </a:rPr>
              <a:t>of</a:t>
            </a:r>
            <a:r>
              <a:rPr lang="en-US" sz="1400" b="1" spc="-15" dirty="0">
                <a:solidFill>
                  <a:srgbClr val="686464"/>
                </a:solidFill>
                <a:latin typeface="Times New Roman"/>
                <a:cs typeface="Times New Roman"/>
              </a:rPr>
              <a:t> </a:t>
            </a:r>
            <a:r>
              <a:rPr lang="en-US" sz="1400" b="1" dirty="0">
                <a:solidFill>
                  <a:srgbClr val="686464"/>
                </a:solidFill>
                <a:latin typeface="Times New Roman"/>
                <a:cs typeface="Times New Roman"/>
              </a:rPr>
              <a:t>Information</a:t>
            </a:r>
            <a:r>
              <a:rPr lang="en-US" sz="1400" b="1" spc="-45" dirty="0">
                <a:solidFill>
                  <a:srgbClr val="686464"/>
                </a:solidFill>
                <a:latin typeface="Times New Roman"/>
                <a:cs typeface="Times New Roman"/>
              </a:rPr>
              <a:t> </a:t>
            </a:r>
            <a:r>
              <a:rPr lang="en-US" sz="1400" b="1" spc="-25" dirty="0">
                <a:solidFill>
                  <a:srgbClr val="686464"/>
                </a:solidFill>
                <a:latin typeface="Times New Roman"/>
                <a:cs typeface="Times New Roman"/>
              </a:rPr>
              <a:t>Technology, </a:t>
            </a:r>
          </a:p>
          <a:p>
            <a:pPr marL="12700" marR="5080">
              <a:lnSpc>
                <a:spcPct val="134500"/>
              </a:lnSpc>
              <a:spcBef>
                <a:spcPts val="15"/>
              </a:spcBef>
            </a:pPr>
            <a:r>
              <a:rPr lang="en-US" sz="1400" b="1" dirty="0" err="1">
                <a:solidFill>
                  <a:srgbClr val="686464"/>
                </a:solidFill>
                <a:latin typeface="Times New Roman"/>
                <a:cs typeface="Times New Roman"/>
              </a:rPr>
              <a:t>Karpagam</a:t>
            </a:r>
            <a:r>
              <a:rPr lang="en-US" sz="1400" b="1" spc="-15" dirty="0">
                <a:solidFill>
                  <a:srgbClr val="686464"/>
                </a:solidFill>
                <a:latin typeface="Times New Roman"/>
                <a:cs typeface="Times New Roman"/>
              </a:rPr>
              <a:t> </a:t>
            </a:r>
            <a:r>
              <a:rPr lang="en-US" sz="1400" b="1" dirty="0">
                <a:solidFill>
                  <a:srgbClr val="686464"/>
                </a:solidFill>
                <a:latin typeface="Times New Roman"/>
                <a:cs typeface="Times New Roman"/>
              </a:rPr>
              <a:t>Institute</a:t>
            </a:r>
            <a:r>
              <a:rPr lang="en-US" sz="1400" b="1" spc="-20" dirty="0">
                <a:solidFill>
                  <a:srgbClr val="686464"/>
                </a:solidFill>
                <a:latin typeface="Times New Roman"/>
                <a:cs typeface="Times New Roman"/>
              </a:rPr>
              <a:t> </a:t>
            </a:r>
            <a:r>
              <a:rPr lang="en-US" sz="1400" b="1" dirty="0">
                <a:solidFill>
                  <a:srgbClr val="686464"/>
                </a:solidFill>
                <a:latin typeface="Times New Roman"/>
                <a:cs typeface="Times New Roman"/>
              </a:rPr>
              <a:t>of</a:t>
            </a:r>
            <a:r>
              <a:rPr lang="en-US" sz="1400" b="1" spc="-40" dirty="0">
                <a:solidFill>
                  <a:srgbClr val="686464"/>
                </a:solidFill>
                <a:latin typeface="Times New Roman"/>
                <a:cs typeface="Times New Roman"/>
              </a:rPr>
              <a:t> </a:t>
            </a:r>
            <a:r>
              <a:rPr lang="en-US" sz="1400" b="1" spc="-10" dirty="0">
                <a:solidFill>
                  <a:srgbClr val="686464"/>
                </a:solidFill>
                <a:latin typeface="Times New Roman"/>
                <a:cs typeface="Times New Roman"/>
              </a:rPr>
              <a:t>Technology, Coimbatore</a:t>
            </a:r>
            <a:endParaRPr dirty="0"/>
          </a:p>
          <a:p>
            <a:pPr marL="12700" marR="977264" lvl="0" indent="0" algn="l" rtl="0">
              <a:lnSpc>
                <a:spcPct val="124700"/>
              </a:lnSpc>
              <a:spcBef>
                <a:spcPts val="175"/>
              </a:spcBef>
              <a:spcAft>
                <a:spcPts val="0"/>
              </a:spcAft>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457200" y="152400"/>
            <a:ext cx="8229600" cy="7921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600"/>
              <a:buFont typeface="Times New Roman"/>
              <a:buNone/>
            </a:pPr>
            <a:r>
              <a:rPr lang="en-US" sz="3600" b="1">
                <a:solidFill>
                  <a:schemeClr val="dk1"/>
                </a:solidFill>
                <a:latin typeface="Times New Roman"/>
                <a:ea typeface="Times New Roman"/>
                <a:cs typeface="Times New Roman"/>
                <a:sym typeface="Times New Roman"/>
              </a:rPr>
              <a:t>Abstract:</a:t>
            </a:r>
            <a:endParaRPr sz="1200">
              <a:latin typeface="Times New Roman"/>
              <a:ea typeface="Times New Roman"/>
              <a:cs typeface="Times New Roman"/>
              <a:sym typeface="Times New Roman"/>
            </a:endParaRPr>
          </a:p>
        </p:txBody>
      </p:sp>
      <p:sp>
        <p:nvSpPr>
          <p:cNvPr id="114" name="Google Shape;114;p2"/>
          <p:cNvSpPr txBox="1">
            <a:spLocks noGrp="1"/>
          </p:cNvSpPr>
          <p:nvPr>
            <p:ph type="body" idx="1"/>
          </p:nvPr>
        </p:nvSpPr>
        <p:spPr>
          <a:xfrm>
            <a:off x="381000" y="990600"/>
            <a:ext cx="8326244" cy="5181600"/>
          </a:xfrm>
          <a:prstGeom prst="rect">
            <a:avLst/>
          </a:prstGeom>
          <a:noFill/>
          <a:ln>
            <a:noFill/>
          </a:ln>
        </p:spPr>
        <p:txBody>
          <a:bodyPr spcFirstLastPara="1" wrap="square" lIns="91425" tIns="45700" rIns="91425" bIns="45700" anchor="t" anchorCtr="0">
            <a:noAutofit/>
          </a:bodyPr>
          <a:lstStyle/>
          <a:p>
            <a:pPr marL="274320" lvl="0" indent="-166370" algn="just" rtl="0">
              <a:spcBef>
                <a:spcPts val="0"/>
              </a:spcBef>
              <a:spcAft>
                <a:spcPts val="0"/>
              </a:spcAft>
              <a:buSzPts val="1700"/>
              <a:buNone/>
            </a:pPr>
            <a:endParaRPr sz="2000" dirty="0">
              <a:latin typeface="Times New Roman"/>
              <a:ea typeface="Times New Roman"/>
              <a:cs typeface="Times New Roman"/>
              <a:sym typeface="Times New Roman"/>
            </a:endParaRPr>
          </a:p>
          <a:p>
            <a:pPr algn="just"/>
            <a:r>
              <a:rPr lang="en-IN" sz="1800" dirty="0">
                <a:latin typeface="Times New Roman" pitchFamily="18" charset="0"/>
                <a:cs typeface="Times New Roman" pitchFamily="18" charset="0"/>
              </a:rPr>
              <a:t>With the advent of recent IoT technologies in Smart Industrial Automation, the need for Automatic Automation Systems (AAS).</a:t>
            </a:r>
          </a:p>
          <a:p>
            <a:pPr algn="just"/>
            <a:endParaRPr lang="en-IN"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The proposed network system incorporates multiple sensors to monitor environmental parameters. </a:t>
            </a:r>
          </a:p>
          <a:p>
            <a:pPr marL="0" indent="0" algn="just">
              <a:buSzPts val="2000"/>
              <a:buNone/>
            </a:pPr>
            <a:endParaRPr sz="1800" dirty="0">
              <a:latin typeface="Sans Serif "/>
              <a:ea typeface="Arial"/>
              <a:cs typeface="Arial"/>
              <a:sym typeface="Arial"/>
            </a:endParaRPr>
          </a:p>
          <a:p>
            <a:pPr algn="just"/>
            <a:r>
              <a:rPr lang="en-US" sz="1800" dirty="0">
                <a:latin typeface="Times New Roman" pitchFamily="18" charset="0"/>
                <a:cs typeface="Times New Roman" pitchFamily="18" charset="0"/>
              </a:rPr>
              <a:t>Once harmful attacks occurred in the environment, the sensor node will provide an effective notification and warning mechanism for the users. </a:t>
            </a:r>
          </a:p>
          <a:p>
            <a:pPr algn="just"/>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A smart IoT gateway is implemented to provide data processing, local server and client connection.</a:t>
            </a:r>
          </a:p>
          <a:p>
            <a:pPr marL="0" lvl="0" indent="0" algn="just" rtl="0">
              <a:spcBef>
                <a:spcPts val="580"/>
              </a:spcBef>
              <a:spcAft>
                <a:spcPts val="0"/>
              </a:spcAft>
              <a:buNone/>
            </a:pPr>
            <a:endParaRPr sz="2000" dirty="0">
              <a:latin typeface="Sans Serif "/>
              <a:ea typeface="Sans Serif Collection" panose="020B0502040504020204" pitchFamily="34" charset="0"/>
              <a:cs typeface="Sans Serif Collection" panose="020B0502040504020204" pitchFamily="34" charset="0"/>
              <a:sym typeface="Arial"/>
            </a:endParaRPr>
          </a:p>
          <a:p>
            <a:pPr marL="274320" lvl="0" indent="-187960" algn="just" rtl="0">
              <a:spcBef>
                <a:spcPts val="1380"/>
              </a:spcBef>
              <a:spcAft>
                <a:spcPts val="0"/>
              </a:spcAft>
              <a:buSzPts val="1360"/>
              <a:buFont typeface="Noto Sans Symbols"/>
              <a:buNone/>
            </a:pPr>
            <a:endParaRPr sz="1600" b="0" i="0" dirty="0">
              <a:latin typeface="Arial"/>
              <a:ea typeface="Arial"/>
              <a:cs typeface="Arial"/>
              <a:sym typeface="Arial"/>
            </a:endParaRPr>
          </a:p>
          <a:p>
            <a:pPr marL="457200" lvl="0" indent="-327660" algn="just" rtl="0">
              <a:spcBef>
                <a:spcPts val="580"/>
              </a:spcBef>
              <a:spcAft>
                <a:spcPts val="0"/>
              </a:spcAft>
              <a:buSzPts val="2040"/>
              <a:buNone/>
            </a:pPr>
            <a:endParaRPr sz="2400" b="0" i="0" dirty="0">
              <a:latin typeface="Arial"/>
              <a:ea typeface="Arial"/>
              <a:cs typeface="Arial"/>
              <a:sym typeface="Arial"/>
            </a:endParaRPr>
          </a:p>
          <a:p>
            <a:pPr marL="0" lvl="0" indent="0" algn="just" rtl="0">
              <a:lnSpc>
                <a:spcPct val="150000"/>
              </a:lnSpc>
              <a:spcBef>
                <a:spcPts val="580"/>
              </a:spcBef>
              <a:spcAft>
                <a:spcPts val="0"/>
              </a:spcAft>
              <a:buSzPts val="1360"/>
              <a:buNone/>
            </a:pPr>
            <a:endParaRPr sz="1600" dirty="0">
              <a:latin typeface="Times New Roman"/>
              <a:ea typeface="Times New Roman"/>
              <a:cs typeface="Times New Roman"/>
              <a:sym typeface="Times New Roman"/>
            </a:endParaRPr>
          </a:p>
        </p:txBody>
      </p:sp>
      <p:sp>
        <p:nvSpPr>
          <p:cNvPr id="115" name="Google Shape;115;p2"/>
          <p:cNvSpPr txBox="1"/>
          <p:nvPr/>
        </p:nvSpPr>
        <p:spPr>
          <a:xfrm>
            <a:off x="6353425" y="5831475"/>
            <a:ext cx="28245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6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457200" y="295080"/>
            <a:ext cx="7467600" cy="7159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600"/>
              <a:buFont typeface="Times New Roman"/>
              <a:buNone/>
            </a:pPr>
            <a:r>
              <a:rPr lang="en-US" sz="3600" b="1" dirty="0">
                <a:solidFill>
                  <a:schemeClr val="dk1"/>
                </a:solidFill>
                <a:latin typeface="Times New Roman"/>
                <a:ea typeface="Times New Roman"/>
                <a:cs typeface="Times New Roman"/>
                <a:sym typeface="Times New Roman"/>
              </a:rPr>
              <a:t>Problem  Identification</a:t>
            </a:r>
            <a:endParaRPr sz="1200" b="1" dirty="0">
              <a:latin typeface="Times New Roman"/>
              <a:ea typeface="Times New Roman"/>
              <a:cs typeface="Times New Roman"/>
              <a:sym typeface="Times New Roman"/>
            </a:endParaRPr>
          </a:p>
        </p:txBody>
      </p:sp>
      <p:sp>
        <p:nvSpPr>
          <p:cNvPr id="121" name="Google Shape;121;p3"/>
          <p:cNvSpPr txBox="1">
            <a:spLocks noGrp="1"/>
          </p:cNvSpPr>
          <p:nvPr>
            <p:ph type="body" idx="1"/>
          </p:nvPr>
        </p:nvSpPr>
        <p:spPr>
          <a:xfrm>
            <a:off x="457200" y="1447800"/>
            <a:ext cx="8229600" cy="5693577"/>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1530"/>
              <a:buChar char="⚫"/>
            </a:pPr>
            <a:r>
              <a:rPr lang="en-US" sz="1800" b="1" dirty="0">
                <a:latin typeface="Arial"/>
                <a:ea typeface="Arial"/>
                <a:cs typeface="Arial"/>
                <a:sym typeface="Arial"/>
              </a:rPr>
              <a:t>Inaccurate Fault Detection and High False Positives:</a:t>
            </a:r>
            <a:endParaRPr dirty="0"/>
          </a:p>
          <a:p>
            <a:pPr marL="0" lvl="0" indent="0" algn="l" rtl="0">
              <a:spcBef>
                <a:spcPts val="580"/>
              </a:spcBef>
              <a:spcAft>
                <a:spcPts val="0"/>
              </a:spcAft>
              <a:buSzPts val="1530"/>
              <a:buNone/>
            </a:pPr>
            <a:r>
              <a:rPr lang="en-US" sz="1800" dirty="0">
                <a:latin typeface="Times New Roman" panose="02020603050405020304" pitchFamily="18" charset="0"/>
                <a:ea typeface="Arial"/>
                <a:cs typeface="Times New Roman" panose="02020603050405020304" pitchFamily="18" charset="0"/>
                <a:sym typeface="Arial"/>
              </a:rPr>
              <a:t>       One of the major challenges in automatic fault detection is ensuring that the system accurately identifies real faults without generating false positives. In many industrial environments, sensors can pick up noise.</a:t>
            </a:r>
          </a:p>
          <a:p>
            <a:pPr marL="0" lvl="0" indent="0" algn="l" rtl="0">
              <a:spcBef>
                <a:spcPts val="580"/>
              </a:spcBef>
              <a:spcAft>
                <a:spcPts val="0"/>
              </a:spcAft>
              <a:buSzPts val="1530"/>
              <a:buNone/>
            </a:pPr>
            <a:endParaRPr dirty="0">
              <a:latin typeface="Times New Roman" panose="02020603050405020304" pitchFamily="18" charset="0"/>
              <a:cs typeface="Times New Roman" panose="02020603050405020304" pitchFamily="18" charset="0"/>
            </a:endParaRPr>
          </a:p>
          <a:p>
            <a:pPr marL="274320" lvl="0" indent="-274320" algn="l" rtl="0">
              <a:spcBef>
                <a:spcPts val="580"/>
              </a:spcBef>
              <a:spcAft>
                <a:spcPts val="0"/>
              </a:spcAft>
              <a:buSzPts val="1530"/>
              <a:buChar char="⚫"/>
            </a:pPr>
            <a:r>
              <a:rPr lang="en-US" sz="1800" b="1" dirty="0">
                <a:latin typeface="Arial"/>
                <a:ea typeface="Arial"/>
                <a:cs typeface="Arial"/>
                <a:sym typeface="Arial"/>
              </a:rPr>
              <a:t>Data Overload and Processing Delays:</a:t>
            </a:r>
            <a:endParaRPr sz="1800" dirty="0">
              <a:latin typeface="Arial"/>
              <a:ea typeface="Arial"/>
              <a:cs typeface="Arial"/>
              <a:sym typeface="Arial"/>
            </a:endParaRPr>
          </a:p>
          <a:p>
            <a:pPr marL="0" lvl="0" indent="0" algn="l" rtl="0">
              <a:spcBef>
                <a:spcPts val="580"/>
              </a:spcBef>
              <a:spcAft>
                <a:spcPts val="0"/>
              </a:spcAft>
              <a:buSzPts val="1530"/>
              <a:buNone/>
            </a:pPr>
            <a:r>
              <a:rPr lang="en-US" sz="1800" dirty="0">
                <a:latin typeface="Times New Roman" panose="02020603050405020304" pitchFamily="18" charset="0"/>
                <a:ea typeface="Arial"/>
                <a:cs typeface="Times New Roman" panose="02020603050405020304" pitchFamily="18" charset="0"/>
                <a:sym typeface="Arial"/>
              </a:rPr>
              <a:t>      With the large volume of data generated by IoT sensors in real-time, there is a risk of data overload. Industrial systems often involve thousands of sensors, and processing all the data to detect potential faults or abnormalities can result in delay.</a:t>
            </a:r>
          </a:p>
          <a:p>
            <a:pPr marL="0" lvl="0" indent="0" algn="l" rtl="0">
              <a:spcBef>
                <a:spcPts val="580"/>
              </a:spcBef>
              <a:spcAft>
                <a:spcPts val="0"/>
              </a:spcAft>
              <a:buSzPts val="1530"/>
              <a:buNone/>
            </a:pPr>
            <a:endParaRPr dirty="0">
              <a:latin typeface="Times New Roman" panose="02020603050405020304" pitchFamily="18" charset="0"/>
              <a:cs typeface="Times New Roman" panose="02020603050405020304" pitchFamily="18" charset="0"/>
            </a:endParaRPr>
          </a:p>
          <a:p>
            <a:pPr marL="274320" lvl="0" indent="-274320" algn="l" rtl="0">
              <a:spcBef>
                <a:spcPts val="580"/>
              </a:spcBef>
              <a:spcAft>
                <a:spcPts val="0"/>
              </a:spcAft>
              <a:buSzPts val="1530"/>
              <a:buChar char="⚫"/>
            </a:pPr>
            <a:r>
              <a:rPr lang="en-US" sz="1800" b="1" dirty="0">
                <a:latin typeface="+mj-lt"/>
              </a:rPr>
              <a:t>Connectivity and Network Reliability Issue</a:t>
            </a:r>
            <a:r>
              <a:rPr lang="en-US" sz="1800" dirty="0">
                <a:latin typeface="+mj-lt"/>
              </a:rPr>
              <a:t>s</a:t>
            </a:r>
            <a:r>
              <a:rPr lang="en-US" sz="1800" dirty="0"/>
              <a:t>:</a:t>
            </a:r>
            <a:endParaRPr sz="1800" dirty="0"/>
          </a:p>
          <a:p>
            <a:pPr marL="0" lvl="0" indent="0" algn="l" rtl="0">
              <a:spcBef>
                <a:spcPts val="580"/>
              </a:spcBef>
              <a:spcAft>
                <a:spcPts val="0"/>
              </a:spcAft>
              <a:buSzPts val="1530"/>
              <a:buNone/>
            </a:pPr>
            <a:r>
              <a:rPr lang="en-US" sz="1800" dirty="0">
                <a:latin typeface="Times New Roman" panose="02020603050405020304" pitchFamily="18" charset="0"/>
                <a:ea typeface="Arial"/>
                <a:cs typeface="Times New Roman" panose="02020603050405020304" pitchFamily="18" charset="0"/>
                <a:sym typeface="Arial"/>
              </a:rPr>
              <a:t>      In IoT-based systems, reliable network connectivity is essential for transmitting sensor data to the cloud for analysis. However, industrial environments often have issues with network reliability due to factors such as interference.</a:t>
            </a:r>
            <a:endParaRPr dirty="0">
              <a:latin typeface="Times New Roman" panose="02020603050405020304" pitchFamily="18" charset="0"/>
              <a:cs typeface="Times New Roman" panose="02020603050405020304" pitchFamily="18" charset="0"/>
            </a:endParaRPr>
          </a:p>
          <a:p>
            <a:pPr marL="274320" lvl="0" indent="-166370" algn="l" rtl="0">
              <a:lnSpc>
                <a:spcPct val="150000"/>
              </a:lnSpc>
              <a:spcBef>
                <a:spcPts val="580"/>
              </a:spcBef>
              <a:spcAft>
                <a:spcPts val="0"/>
              </a:spcAft>
              <a:buSzPts val="1700"/>
              <a:buNone/>
            </a:pPr>
            <a:endParaRPr sz="2000" dirty="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7C97C-62A2-B76D-BC8C-DBCD5653F2DA}"/>
              </a:ext>
            </a:extLst>
          </p:cNvPr>
          <p:cNvSpPr>
            <a:spLocks noGrp="1"/>
          </p:cNvSpPr>
          <p:nvPr>
            <p:ph type="title"/>
          </p:nvPr>
        </p:nvSpPr>
        <p:spPr>
          <a:xfrm>
            <a:off x="281940" y="114618"/>
            <a:ext cx="7772400" cy="1143000"/>
          </a:xfrm>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44B4EE2-2685-6EC5-89C4-FCD5EFDAB09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sp>
        <p:nvSpPr>
          <p:cNvPr id="4" name="Text Placeholder 3">
            <a:extLst>
              <a:ext uri="{FF2B5EF4-FFF2-40B4-BE49-F238E27FC236}">
                <a16:creationId xmlns:a16="http://schemas.microsoft.com/office/drawing/2014/main" id="{E4BB105F-B644-C907-C973-B21B0FE6ED8B}"/>
              </a:ext>
            </a:extLst>
          </p:cNvPr>
          <p:cNvSpPr>
            <a:spLocks noGrp="1"/>
          </p:cNvSpPr>
          <p:nvPr>
            <p:ph type="body"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Nuclear power plants are very important for producing electricity, but they must be carefully monitored to stay safe. If something goes wrong and a problem is not noticed in time, it can be very dangerous. That’s why fault detection is very important</a:t>
            </a:r>
            <a:r>
              <a:rPr lang="en-US" sz="1800" dirty="0"/>
              <a:t>.</a:t>
            </a:r>
          </a:p>
          <a:p>
            <a:pPr algn="just"/>
            <a:r>
              <a:rPr lang="en-US" sz="1800" dirty="0">
                <a:latin typeface="Times New Roman" panose="02020603050405020304" pitchFamily="18" charset="0"/>
                <a:cs typeface="Times New Roman" panose="02020603050405020304" pitchFamily="18" charset="0"/>
              </a:rPr>
              <a:t>This project is about creating a fault detection device using IoT (Internet of Things) technology. We will use sensors to check things like temperature, pressure, and radiation inside the plant. These sensors will send data to a system that watches for anything unusual.</a:t>
            </a:r>
          </a:p>
          <a:p>
            <a:r>
              <a:rPr lang="en-US" sz="1800" dirty="0">
                <a:latin typeface="Times New Roman" panose="02020603050405020304" pitchFamily="18" charset="0"/>
                <a:cs typeface="Times New Roman" panose="02020603050405020304" pitchFamily="18" charset="0"/>
              </a:rPr>
              <a:t>If a problem is found, the system will send an alert so that action can be taken quickly. By using IoT, we can monitor the plant in real-time, from anywhere, and help prevent accidents before they happen</a:t>
            </a:r>
            <a:r>
              <a:rPr lang="en-US" sz="1200" dirty="0"/>
              <a:t>.</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93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txBox="1">
            <a:spLocks noGrp="1"/>
          </p:cNvSpPr>
          <p:nvPr>
            <p:ph type="title"/>
          </p:nvPr>
        </p:nvSpPr>
        <p:spPr>
          <a:xfrm>
            <a:off x="457200" y="163606"/>
            <a:ext cx="8229600" cy="9445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600"/>
              <a:buFont typeface="Times New Roman"/>
              <a:buNone/>
            </a:pPr>
            <a:r>
              <a:rPr lang="en-US" sz="3600" b="1">
                <a:solidFill>
                  <a:schemeClr val="dk1"/>
                </a:solidFill>
                <a:latin typeface="Times New Roman"/>
                <a:ea typeface="Times New Roman"/>
                <a:cs typeface="Times New Roman"/>
                <a:sym typeface="Times New Roman"/>
              </a:rPr>
              <a:t>Existing System:</a:t>
            </a:r>
            <a:endParaRPr sz="1600" b="1">
              <a:latin typeface="Times New Roman"/>
              <a:ea typeface="Times New Roman"/>
              <a:cs typeface="Times New Roman"/>
              <a:sym typeface="Times New Roman"/>
            </a:endParaRPr>
          </a:p>
        </p:txBody>
      </p:sp>
      <p:sp>
        <p:nvSpPr>
          <p:cNvPr id="127" name="Google Shape;127;p4"/>
          <p:cNvSpPr txBox="1"/>
          <p:nvPr/>
        </p:nvSpPr>
        <p:spPr>
          <a:xfrm>
            <a:off x="457200" y="1365504"/>
            <a:ext cx="8479536" cy="5840954"/>
          </a:xfrm>
          <a:prstGeom prst="rect">
            <a:avLst/>
          </a:prstGeom>
          <a:noFill/>
          <a:ln>
            <a:noFill/>
          </a:ln>
        </p:spPr>
        <p:txBody>
          <a:bodyPr spcFirstLastPara="1" wrap="square" lIns="91425" tIns="45700" rIns="91425" bIns="45700" anchor="t" anchorCtr="0">
            <a:noAutofit/>
          </a:bodyPr>
          <a:lstStyle/>
          <a:p>
            <a:pPr algn="just"/>
            <a:r>
              <a:rPr lang="en-US" sz="2000" dirty="0">
                <a:latin typeface="Times New Roman" pitchFamily="18" charset="0"/>
                <a:cs typeface="Times New Roman" pitchFamily="18" charset="0"/>
              </a:rPr>
              <a:t>As an Industrial Control System is a cyber-physical system, the process of security risk propagation in ICSs is different from that in general network systems.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Most ICS failure detection aim to vandalize ICS assets, which include humans, environment, and equipment. </a:t>
            </a:r>
          </a:p>
          <a:p>
            <a:pPr algn="just"/>
            <a:endParaRPr lang="en-US" sz="2000" dirty="0">
              <a:latin typeface="Times New Roman" pitchFamily="18" charset="0"/>
              <a:cs typeface="Times New Roman" pitchFamily="18" charset="0"/>
            </a:endParaRPr>
          </a:p>
          <a:p>
            <a:pPr lvl="0" algn="just"/>
            <a:r>
              <a:rPr lang="en-IN" sz="2000" dirty="0">
                <a:latin typeface="Times New Roman" pitchFamily="18" charset="0"/>
                <a:cs typeface="Times New Roman" pitchFamily="18" charset="0"/>
              </a:rPr>
              <a:t>Traditionally, safety monitoring and automation systems were typically designed to meet the requirements of a single monitoring application. </a:t>
            </a:r>
          </a:p>
          <a:p>
            <a:pPr marL="0" marR="0" lvl="0" indent="0" algn="just" rtl="0">
              <a:lnSpc>
                <a:spcPct val="150000"/>
              </a:lnSpc>
              <a:spcBef>
                <a:spcPts val="1380"/>
              </a:spcBef>
              <a:spcAft>
                <a:spcPts val="0"/>
              </a:spcAft>
              <a:buClr>
                <a:schemeClr val="accent1"/>
              </a:buClr>
              <a:buSzPts val="1700"/>
              <a:buFont typeface="Noto Sans Symbols"/>
              <a:buNone/>
            </a:pPr>
            <a:endParaRPr sz="2000" dirty="0">
              <a:solidFill>
                <a:schemeClr val="dk1"/>
              </a:solidFill>
              <a:latin typeface="Calibri"/>
              <a:ea typeface="Calibri"/>
              <a:cs typeface="Calibri"/>
              <a:sym typeface="Calibri"/>
            </a:endParaRPr>
          </a:p>
          <a:p>
            <a:pPr marL="274320" marR="0" lvl="0" indent="-177165" algn="just" rtl="0">
              <a:lnSpc>
                <a:spcPct val="150000"/>
              </a:lnSpc>
              <a:spcBef>
                <a:spcPts val="580"/>
              </a:spcBef>
              <a:spcAft>
                <a:spcPts val="0"/>
              </a:spcAft>
              <a:buClr>
                <a:schemeClr val="accent1"/>
              </a:buClr>
              <a:buSzPts val="1530"/>
              <a:buFont typeface="Noto Sans Symbols"/>
              <a:buNone/>
            </a:pPr>
            <a:endParaRPr sz="1800" dirty="0">
              <a:solidFill>
                <a:schemeClr val="dk1"/>
              </a:solidFill>
              <a:latin typeface="Arial"/>
              <a:ea typeface="Arial"/>
              <a:cs typeface="Arial"/>
              <a:sym typeface="Arial"/>
            </a:endParaRPr>
          </a:p>
        </p:txBody>
      </p:sp>
      <p:sp>
        <p:nvSpPr>
          <p:cNvPr id="2" name="Flowchart: Connector 1">
            <a:extLst>
              <a:ext uri="{FF2B5EF4-FFF2-40B4-BE49-F238E27FC236}">
                <a16:creationId xmlns:a16="http://schemas.microsoft.com/office/drawing/2014/main" id="{45CEBE22-C78E-ABBE-C090-9CE314912A05}"/>
              </a:ext>
            </a:extLst>
          </p:cNvPr>
          <p:cNvSpPr/>
          <p:nvPr/>
        </p:nvSpPr>
        <p:spPr>
          <a:xfrm>
            <a:off x="288036" y="1499616"/>
            <a:ext cx="179832" cy="188976"/>
          </a:xfrm>
          <a:prstGeom prst="flowChartConnector">
            <a:avLst/>
          </a:prstGeom>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EB3DE780-0197-1C38-2DC4-6125920CAD91}"/>
              </a:ext>
            </a:extLst>
          </p:cNvPr>
          <p:cNvSpPr/>
          <p:nvPr/>
        </p:nvSpPr>
        <p:spPr>
          <a:xfrm>
            <a:off x="288036" y="2712720"/>
            <a:ext cx="179832" cy="188976"/>
          </a:xfrm>
          <a:prstGeom prst="flowChartConnector">
            <a:avLst/>
          </a:prstGeom>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3" name="Flowchart: Connector 12">
            <a:extLst>
              <a:ext uri="{FF2B5EF4-FFF2-40B4-BE49-F238E27FC236}">
                <a16:creationId xmlns:a16="http://schemas.microsoft.com/office/drawing/2014/main" id="{47114D68-CAED-BEF1-1F43-6EE5651ABE9E}"/>
              </a:ext>
            </a:extLst>
          </p:cNvPr>
          <p:cNvSpPr/>
          <p:nvPr/>
        </p:nvSpPr>
        <p:spPr>
          <a:xfrm>
            <a:off x="300228" y="3651997"/>
            <a:ext cx="179832" cy="188976"/>
          </a:xfrm>
          <a:prstGeom prst="flowChartConnector">
            <a:avLst/>
          </a:prstGeom>
          <a:solidFill>
            <a:schemeClr val="tx1">
              <a:lumMod val="95000"/>
              <a:lumOff val="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381000" y="152400"/>
            <a:ext cx="8229600" cy="7921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600"/>
              <a:buFont typeface="Times New Roman"/>
              <a:buNone/>
            </a:pPr>
            <a:r>
              <a:rPr lang="en-US" sz="3600" b="1">
                <a:solidFill>
                  <a:schemeClr val="dk1"/>
                </a:solidFill>
                <a:latin typeface="Times New Roman"/>
                <a:ea typeface="Times New Roman"/>
                <a:cs typeface="Times New Roman"/>
                <a:sym typeface="Times New Roman"/>
              </a:rPr>
              <a:t>Proposed work:</a:t>
            </a:r>
            <a:endParaRPr sz="3600" b="1">
              <a:solidFill>
                <a:schemeClr val="dk1"/>
              </a:solidFill>
            </a:endParaRPr>
          </a:p>
        </p:txBody>
      </p:sp>
      <p:sp>
        <p:nvSpPr>
          <p:cNvPr id="133" name="Google Shape;133;p5"/>
          <p:cNvSpPr txBox="1"/>
          <p:nvPr/>
        </p:nvSpPr>
        <p:spPr>
          <a:xfrm>
            <a:off x="685800" y="1066800"/>
            <a:ext cx="7924800" cy="594004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1800" b="1" dirty="0">
                <a:solidFill>
                  <a:schemeClr val="dk1"/>
                </a:solidFill>
              </a:rPr>
              <a:t>Temperature and Humidity Monitoring System</a:t>
            </a:r>
            <a:r>
              <a:rPr lang="en-US" sz="1800" b="1" dirty="0">
                <a:solidFill>
                  <a:schemeClr val="dk1"/>
                </a:solidFill>
                <a:latin typeface="Arial"/>
                <a:ea typeface="Arial"/>
                <a:cs typeface="Arial"/>
                <a:sym typeface="Arial"/>
              </a:rPr>
              <a:t> </a:t>
            </a:r>
            <a:r>
              <a:rPr lang="en-US" sz="2000" b="1" dirty="0">
                <a:solidFill>
                  <a:schemeClr val="dk1"/>
                </a:solidFill>
                <a:latin typeface="Times New Roman" panose="02020603050405020304" pitchFamily="18" charset="0"/>
                <a:cs typeface="Times New Roman" panose="02020603050405020304" pitchFamily="18" charset="0"/>
                <a:sym typeface="Arial"/>
              </a:rPr>
              <a:t>: </a:t>
            </a:r>
            <a:r>
              <a:rPr lang="en-US" sz="2000" dirty="0">
                <a:solidFill>
                  <a:schemeClr val="dk1"/>
                </a:solidFill>
                <a:latin typeface="Times New Roman" panose="02020603050405020304" pitchFamily="18" charset="0"/>
                <a:cs typeface="Times New Roman" panose="02020603050405020304" pitchFamily="18" charset="0"/>
              </a:rPr>
              <a:t>Use IoT sensors to monitor temperature and humidity levels in industrial environments.</a:t>
            </a:r>
            <a:endParaRPr dirty="0">
              <a:latin typeface="Times New Roman" panose="02020603050405020304" pitchFamily="18" charset="0"/>
              <a:cs typeface="Times New Roman" panose="02020603050405020304" pitchFamily="18" charset="0"/>
            </a:endParaRPr>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1800"/>
              <a:buFont typeface="Arial"/>
              <a:buChar char="•"/>
            </a:pPr>
            <a:r>
              <a:rPr lang="en-US" sz="1800" b="1" dirty="0">
                <a:solidFill>
                  <a:schemeClr val="dk1"/>
                </a:solidFill>
              </a:rPr>
              <a:t>Vibration-Based Fault Detection in Machines</a:t>
            </a:r>
            <a:r>
              <a:rPr lang="en-US" sz="2000" dirty="0">
                <a:solidFill>
                  <a:schemeClr val="dk1"/>
                </a:solidFill>
                <a:latin typeface="Times New Roman" panose="02020603050405020304" pitchFamily="18" charset="0"/>
                <a:cs typeface="Times New Roman" panose="02020603050405020304" pitchFamily="18" charset="0"/>
                <a:sym typeface="Arial"/>
              </a:rPr>
              <a:t>: </a:t>
            </a:r>
            <a:r>
              <a:rPr lang="en-US" sz="2000" dirty="0">
                <a:solidFill>
                  <a:schemeClr val="dk1"/>
                </a:solidFill>
                <a:latin typeface="Times New Roman" panose="02020603050405020304" pitchFamily="18" charset="0"/>
                <a:cs typeface="Times New Roman" panose="02020603050405020304" pitchFamily="18" charset="0"/>
              </a:rPr>
              <a:t>Attach vibration sensors to machines to detect abnormal vibrations.</a:t>
            </a:r>
            <a:endParaRPr dirty="0">
              <a:latin typeface="Times New Roman" panose="02020603050405020304" pitchFamily="18" charset="0"/>
              <a:cs typeface="Times New Roman" panose="02020603050405020304" pitchFamily="18" charset="0"/>
            </a:endParaRPr>
          </a:p>
          <a:p>
            <a:pPr marL="285750" marR="0" lvl="0" indent="-158750" algn="l" rtl="0">
              <a:spcBef>
                <a:spcPts val="0"/>
              </a:spcBef>
              <a:spcAft>
                <a:spcPts val="0"/>
              </a:spcAft>
              <a:buClr>
                <a:schemeClr val="dk1"/>
              </a:buClr>
              <a:buSzPts val="2000"/>
              <a:buFont typeface="Arial"/>
              <a:buNone/>
            </a:pPr>
            <a:endParaRPr sz="2000" dirty="0">
              <a:solidFill>
                <a:schemeClr val="dk1"/>
              </a:solidFill>
              <a:latin typeface="Sans Serif "/>
              <a:sym typeface="Arial"/>
            </a:endParaRPr>
          </a:p>
          <a:p>
            <a:pPr marL="342900" marR="0" lvl="0" indent="-342900" algn="l" rtl="0">
              <a:spcBef>
                <a:spcPts val="0"/>
              </a:spcBef>
              <a:spcAft>
                <a:spcPts val="0"/>
              </a:spcAft>
              <a:buClr>
                <a:schemeClr val="dk1"/>
              </a:buClr>
              <a:buSzPts val="2000"/>
              <a:buFont typeface="Arial"/>
              <a:buChar char="•"/>
            </a:pPr>
            <a:r>
              <a:rPr lang="en-US" sz="1800" b="1" dirty="0">
                <a:solidFill>
                  <a:schemeClr val="dk1"/>
                </a:solidFill>
                <a:latin typeface="Arial"/>
                <a:ea typeface="Arial"/>
                <a:cs typeface="Arial"/>
                <a:sym typeface="Arial"/>
              </a:rPr>
              <a:t> </a:t>
            </a:r>
            <a:r>
              <a:rPr lang="en-US" sz="1800" b="1" dirty="0">
                <a:solidFill>
                  <a:schemeClr val="dk1"/>
                </a:solidFill>
              </a:rPr>
              <a:t>Power Consumption and Overload Detection</a:t>
            </a:r>
            <a:r>
              <a:rPr lang="en-US" sz="2000" dirty="0">
                <a:solidFill>
                  <a:schemeClr val="dk1"/>
                </a:solidFill>
                <a:latin typeface="Times New Roman" panose="02020603050405020304" pitchFamily="18" charset="0"/>
                <a:cs typeface="Times New Roman" panose="02020603050405020304" pitchFamily="18" charset="0"/>
                <a:sym typeface="Arial"/>
              </a:rPr>
              <a:t>: </a:t>
            </a:r>
            <a:r>
              <a:rPr lang="en-US" sz="2000" dirty="0">
                <a:solidFill>
                  <a:schemeClr val="dk1"/>
                </a:solidFill>
                <a:latin typeface="Times New Roman" panose="02020603050405020304" pitchFamily="18" charset="0"/>
                <a:cs typeface="Times New Roman" panose="02020603050405020304" pitchFamily="18" charset="0"/>
              </a:rPr>
              <a:t>Measure power usage of industrial equipment using smart energy meters.</a:t>
            </a:r>
            <a:endParaRPr dirty="0">
              <a:latin typeface="Times New Roman" panose="02020603050405020304" pitchFamily="18" charset="0"/>
              <a:cs typeface="Times New Roman" panose="02020603050405020304" pitchFamily="18" charset="0"/>
            </a:endParaRPr>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000"/>
              <a:buFont typeface="Arial"/>
              <a:buChar char="•"/>
            </a:pPr>
            <a:r>
              <a:rPr lang="en-US" sz="1800" b="1" dirty="0">
                <a:solidFill>
                  <a:schemeClr val="dk1"/>
                </a:solidFill>
              </a:rPr>
              <a:t>Gas Leak and Air Quality Monitoring</a:t>
            </a:r>
            <a:r>
              <a:rPr lang="en-US" sz="2000" b="1" dirty="0">
                <a:solidFill>
                  <a:schemeClr val="dk1"/>
                </a:solidFill>
                <a:latin typeface="Times New Roman" panose="02020603050405020304" pitchFamily="18" charset="0"/>
                <a:cs typeface="Times New Roman" panose="02020603050405020304" pitchFamily="18" charset="0"/>
                <a:sym typeface="Arial"/>
              </a:rPr>
              <a:t>: </a:t>
            </a:r>
            <a:r>
              <a:rPr lang="en-US" sz="2000" dirty="0">
                <a:solidFill>
                  <a:schemeClr val="dk1"/>
                </a:solidFill>
                <a:latin typeface="Times New Roman" panose="02020603050405020304" pitchFamily="18" charset="0"/>
                <a:cs typeface="Times New Roman" panose="02020603050405020304" pitchFamily="18" charset="0"/>
              </a:rPr>
              <a:t>Deploy IoT-based gas sensors to detect harmful gas leaks.</a:t>
            </a:r>
          </a:p>
          <a:p>
            <a:pPr marL="342900" marR="0" lvl="0" indent="-342900" algn="l" rtl="0">
              <a:spcBef>
                <a:spcPts val="0"/>
              </a:spcBef>
              <a:spcAft>
                <a:spcPts val="0"/>
              </a:spcAft>
              <a:buClr>
                <a:schemeClr val="dk1"/>
              </a:buClr>
              <a:buSzPts val="2000"/>
              <a:buFont typeface="Arial"/>
              <a:buChar char="•"/>
            </a:pPr>
            <a:endParaRPr sz="2000" dirty="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000"/>
              <a:buFont typeface="Arial"/>
              <a:buChar char="•"/>
            </a:pPr>
            <a:r>
              <a:rPr lang="en-US" sz="1800" b="1" dirty="0">
                <a:solidFill>
                  <a:schemeClr val="dk1"/>
                </a:solidFill>
              </a:rPr>
              <a:t>Conveyor Belt Fault Detection System</a:t>
            </a:r>
            <a:r>
              <a:rPr lang="en-US" sz="2000" b="1" dirty="0">
                <a:solidFill>
                  <a:schemeClr val="dk1"/>
                </a:solidFill>
                <a:latin typeface="Times New Roman" panose="02020603050405020304" pitchFamily="18" charset="0"/>
                <a:cs typeface="Times New Roman" panose="02020603050405020304" pitchFamily="18" charset="0"/>
                <a:sym typeface="Arial"/>
              </a:rPr>
              <a:t>: </a:t>
            </a:r>
            <a:r>
              <a:rPr lang="en-US" sz="2000" dirty="0">
                <a:solidFill>
                  <a:schemeClr val="dk1"/>
                </a:solidFill>
                <a:latin typeface="Times New Roman" panose="02020603050405020304" pitchFamily="18" charset="0"/>
                <a:cs typeface="Times New Roman" panose="02020603050405020304" pitchFamily="18" charset="0"/>
              </a:rPr>
              <a:t>If an issue is detected, the system stops the conveyor automatically.</a:t>
            </a:r>
            <a:endParaRPr sz="2000" dirty="0">
              <a:solidFill>
                <a:schemeClr val="dk1"/>
              </a:solidFill>
              <a:latin typeface="Times New Roman" panose="02020603050405020304" pitchFamily="18" charset="0"/>
              <a:cs typeface="Times New Roman" panose="02020603050405020304" pitchFamily="18" charset="0"/>
              <a:sym typeface="Arial"/>
            </a:endParaRPr>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Arial"/>
              <a:ea typeface="Arial"/>
              <a:cs typeface="Arial"/>
              <a:sym typeface="Arial"/>
            </a:endParaRPr>
          </a:p>
          <a:p>
            <a:pPr marL="285750" marR="0" lvl="0" indent="-158750" algn="l" rtl="0">
              <a:spcBef>
                <a:spcPts val="0"/>
              </a:spcBef>
              <a:spcAft>
                <a:spcPts val="0"/>
              </a:spcAft>
              <a:buClr>
                <a:schemeClr val="dk1"/>
              </a:buClr>
              <a:buSzPts val="2000"/>
              <a:buFont typeface="Arial"/>
              <a:buNone/>
            </a:pPr>
            <a:endParaRPr sz="2000" dirty="0">
              <a:solidFill>
                <a:schemeClr val="dk1"/>
              </a:solidFill>
              <a:latin typeface="Arial"/>
              <a:ea typeface="Arial"/>
              <a:cs typeface="Arial"/>
              <a:sym typeface="Arial"/>
            </a:endParaRPr>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endParaRPr sz="2000" dirty="0">
              <a:solidFill>
                <a:srgbClr val="FF0000"/>
              </a:solidFill>
              <a:latin typeface="Arial"/>
              <a:ea typeface="Arial"/>
              <a:cs typeface="Arial"/>
              <a:sym typeface="Arial"/>
            </a:endParaRPr>
          </a:p>
          <a:p>
            <a:pPr marL="0" marR="0" lvl="0" indent="0" algn="l" rtl="0">
              <a:spcBef>
                <a:spcPts val="0"/>
              </a:spcBef>
              <a:spcAft>
                <a:spcPts val="0"/>
              </a:spcAft>
              <a:buNone/>
            </a:pPr>
            <a:endParaRPr sz="2000" dirty="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600"/>
              <a:buFont typeface="Times New Roman"/>
              <a:buNone/>
            </a:pPr>
            <a:r>
              <a:rPr lang="en-US" sz="3600" b="1">
                <a:solidFill>
                  <a:schemeClr val="dk1"/>
                </a:solidFill>
                <a:latin typeface="Times New Roman"/>
                <a:ea typeface="Times New Roman"/>
                <a:cs typeface="Times New Roman"/>
                <a:sym typeface="Times New Roman"/>
              </a:rPr>
              <a:t>Project Domain:</a:t>
            </a:r>
            <a:endParaRPr/>
          </a:p>
        </p:txBody>
      </p:sp>
      <p:sp>
        <p:nvSpPr>
          <p:cNvPr id="139" name="Google Shape;139;p6"/>
          <p:cNvSpPr txBox="1">
            <a:spLocks noGrp="1"/>
          </p:cNvSpPr>
          <p:nvPr>
            <p:ph type="body" idx="1"/>
          </p:nvPr>
        </p:nvSpPr>
        <p:spPr>
          <a:xfrm>
            <a:off x="609600" y="1219200"/>
            <a:ext cx="8001000" cy="45720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1530"/>
              <a:buNone/>
            </a:pPr>
            <a:r>
              <a:rPr lang="en-US" sz="1800" b="1" dirty="0">
                <a:latin typeface="Arial"/>
                <a:ea typeface="Arial"/>
                <a:cs typeface="Arial"/>
                <a:sym typeface="Arial"/>
              </a:rPr>
              <a:t>Internet of Things (IoT)</a:t>
            </a:r>
            <a:endParaRPr sz="1800" b="1" dirty="0">
              <a:latin typeface="Arial"/>
              <a:ea typeface="Arial"/>
              <a:cs typeface="Arial"/>
              <a:sym typeface="Arial"/>
            </a:endParaRPr>
          </a:p>
          <a:p>
            <a:pPr marL="274320" lvl="0" indent="-274320" algn="just" rtl="0">
              <a:lnSpc>
                <a:spcPct val="150000"/>
              </a:lnSpc>
              <a:spcBef>
                <a:spcPts val="580"/>
              </a:spcBef>
              <a:spcAft>
                <a:spcPts val="0"/>
              </a:spcAft>
              <a:buSzPts val="1700"/>
              <a:buChar char="⚫"/>
            </a:pPr>
            <a:r>
              <a:rPr lang="en-IN" sz="2000" b="1" dirty="0">
                <a:latin typeface="+mj-lt"/>
              </a:rPr>
              <a:t>Fault Detection Techniques</a:t>
            </a:r>
            <a:r>
              <a:rPr lang="en-US" sz="2000" dirty="0">
                <a:latin typeface="Arial"/>
                <a:ea typeface="Arial"/>
                <a:cs typeface="Arial"/>
                <a:sym typeface="Arial"/>
              </a:rPr>
              <a:t> – </a:t>
            </a:r>
            <a:r>
              <a:rPr lang="en-US" sz="1800" dirty="0">
                <a:latin typeface="Times New Roman" panose="02020603050405020304" pitchFamily="18" charset="0"/>
                <a:ea typeface="Arial"/>
                <a:cs typeface="Times New Roman" panose="02020603050405020304" pitchFamily="18" charset="0"/>
                <a:sym typeface="Arial"/>
              </a:rPr>
              <a:t>V</a:t>
            </a:r>
            <a:r>
              <a:rPr lang="en-US" sz="1800" dirty="0">
                <a:latin typeface="Times New Roman" panose="02020603050405020304" pitchFamily="18" charset="0"/>
                <a:cs typeface="Times New Roman" panose="02020603050405020304" pitchFamily="18" charset="0"/>
              </a:rPr>
              <a:t>arious methods of detecting faults in industrial systems, including traditional approaches and modern AI/ML-based methods</a:t>
            </a:r>
            <a:endParaRPr sz="1800" dirty="0">
              <a:latin typeface="Times New Roman" panose="02020603050405020304" pitchFamily="18" charset="0"/>
              <a:cs typeface="Times New Roman" panose="02020603050405020304" pitchFamily="18" charset="0"/>
            </a:endParaRPr>
          </a:p>
          <a:p>
            <a:pPr marL="274320" lvl="0" indent="-274320" algn="just" rtl="0">
              <a:lnSpc>
                <a:spcPct val="150000"/>
              </a:lnSpc>
              <a:spcBef>
                <a:spcPts val="580"/>
              </a:spcBef>
              <a:spcAft>
                <a:spcPts val="0"/>
              </a:spcAft>
              <a:buSzPts val="1700"/>
              <a:buChar char="⚫"/>
            </a:pPr>
            <a:r>
              <a:rPr lang="en-US" sz="2000" b="1" dirty="0">
                <a:latin typeface="+mj-lt"/>
              </a:rPr>
              <a:t>Real-Time Data Processing and Analytics</a:t>
            </a:r>
            <a:r>
              <a:rPr lang="en-US" sz="2000" dirty="0">
                <a:latin typeface="Arial"/>
                <a:ea typeface="Arial"/>
                <a:cs typeface="Arial"/>
                <a:sym typeface="Arial"/>
              </a:rPr>
              <a:t>– </a:t>
            </a:r>
            <a:r>
              <a:rPr lang="en-US" sz="1800" dirty="0">
                <a:latin typeface="Times New Roman" panose="02020603050405020304" pitchFamily="18" charset="0"/>
                <a:ea typeface="Arial"/>
                <a:cs typeface="Times New Roman" panose="02020603050405020304" pitchFamily="18" charset="0"/>
                <a:sym typeface="Arial"/>
              </a:rPr>
              <a:t>R</a:t>
            </a:r>
            <a:r>
              <a:rPr lang="en-US" sz="1800" dirty="0">
                <a:latin typeface="Times New Roman" panose="02020603050405020304" pitchFamily="18" charset="0"/>
                <a:cs typeface="Times New Roman" panose="02020603050405020304" pitchFamily="18" charset="0"/>
              </a:rPr>
              <a:t>eal-time to identify abnormal conditions and predict possible failures</a:t>
            </a:r>
            <a:r>
              <a:rPr lang="en-US" sz="1800" dirty="0">
                <a:latin typeface="Times New Roman" panose="02020603050405020304" pitchFamily="18" charset="0"/>
                <a:ea typeface="Arial"/>
                <a:cs typeface="Times New Roman" panose="02020603050405020304" pitchFamily="18" charset="0"/>
                <a:sym typeface="Arial"/>
              </a:rPr>
              <a:t>.</a:t>
            </a:r>
            <a:endParaRPr sz="1800" dirty="0">
              <a:latin typeface="Times New Roman" panose="02020603050405020304" pitchFamily="18" charset="0"/>
              <a:cs typeface="Times New Roman" panose="02020603050405020304" pitchFamily="18" charset="0"/>
            </a:endParaRPr>
          </a:p>
          <a:p>
            <a:pPr marL="274320" lvl="0" indent="-274320" algn="just" rtl="0">
              <a:lnSpc>
                <a:spcPct val="150000"/>
              </a:lnSpc>
              <a:spcBef>
                <a:spcPts val="580"/>
              </a:spcBef>
              <a:spcAft>
                <a:spcPts val="0"/>
              </a:spcAft>
              <a:buSzPts val="1700"/>
              <a:buChar char="⚫"/>
            </a:pPr>
            <a:r>
              <a:rPr lang="en-IN" sz="1800" b="1" dirty="0">
                <a:latin typeface="+mj-lt"/>
              </a:rPr>
              <a:t>IoT-based Remote Monitoring System</a:t>
            </a:r>
            <a:r>
              <a:rPr lang="en-US" sz="1800" b="1" dirty="0">
                <a:latin typeface="+mj-lt"/>
                <a:ea typeface="Arial"/>
                <a:cs typeface="Arial"/>
                <a:sym typeface="Arial"/>
              </a:rPr>
              <a:t> </a:t>
            </a:r>
            <a:r>
              <a:rPr lang="en-US" sz="1800" dirty="0">
                <a:latin typeface="Sans Serif "/>
                <a:ea typeface="Arial"/>
                <a:cs typeface="Arial"/>
                <a:sym typeface="Arial"/>
              </a:rPr>
              <a:t>– </a:t>
            </a:r>
            <a:r>
              <a:rPr lang="en-US" sz="1800" dirty="0">
                <a:latin typeface="Sans Serif "/>
              </a:rPr>
              <a:t> </a:t>
            </a:r>
            <a:r>
              <a:rPr lang="en-US" sz="1800" dirty="0">
                <a:latin typeface="Times New Roman" panose="02020603050405020304" pitchFamily="18" charset="0"/>
                <a:cs typeface="Times New Roman" panose="02020603050405020304" pitchFamily="18" charset="0"/>
              </a:rPr>
              <a:t>The design and working of an IoT-based remote monitoring system for industrial applications</a:t>
            </a:r>
            <a:r>
              <a:rPr lang="en-US" sz="2000" dirty="0">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91425" anchor="b" anchorCtr="0">
            <a:normAutofit fontScale="90000"/>
          </a:bodyPr>
          <a:lstStyle/>
          <a:p>
            <a:pPr marL="0" lvl="0" indent="0" algn="l" rtl="0">
              <a:spcBef>
                <a:spcPts val="0"/>
              </a:spcBef>
              <a:spcAft>
                <a:spcPts val="0"/>
              </a:spcAft>
              <a:buClr>
                <a:schemeClr val="dk1"/>
              </a:buClr>
              <a:buSzPct val="100000"/>
              <a:buFont typeface="Times New Roman"/>
              <a:buNone/>
            </a:pPr>
            <a:r>
              <a:rPr lang="en-US" sz="4000" b="1">
                <a:solidFill>
                  <a:schemeClr val="dk1"/>
                </a:solidFill>
                <a:latin typeface="Times New Roman"/>
                <a:ea typeface="Times New Roman"/>
                <a:cs typeface="Times New Roman"/>
                <a:sym typeface="Times New Roman"/>
              </a:rPr>
              <a:t>Technological Stack:</a:t>
            </a:r>
            <a:endParaRPr b="1">
              <a:latin typeface="Times New Roman"/>
              <a:ea typeface="Times New Roman"/>
              <a:cs typeface="Times New Roman"/>
              <a:sym typeface="Times New Roman"/>
            </a:endParaRPr>
          </a:p>
        </p:txBody>
      </p:sp>
      <p:sp>
        <p:nvSpPr>
          <p:cNvPr id="145" name="Google Shape;145;p7"/>
          <p:cNvSpPr txBox="1">
            <a:spLocks noGrp="1"/>
          </p:cNvSpPr>
          <p:nvPr>
            <p:ph type="dt" idx="10"/>
          </p:nvPr>
        </p:nvSpPr>
        <p:spPr>
          <a:xfrm rot="10800000">
            <a:off x="8648700" y="6667500"/>
            <a:ext cx="495300" cy="8763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endParaRPr/>
          </a:p>
        </p:txBody>
      </p:sp>
      <p:sp>
        <p:nvSpPr>
          <p:cNvPr id="146" name="Google Shape;146;p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p>
            <a:pPr marL="0" lvl="0" indent="0" algn="ctr" rtl="0">
              <a:spcBef>
                <a:spcPts val="0"/>
              </a:spcBef>
              <a:spcAft>
                <a:spcPts val="0"/>
              </a:spcAft>
              <a:buNone/>
            </a:pPr>
            <a:fld id="{00000000-1234-1234-1234-123412341234}" type="slidenum">
              <a:rPr lang="en-US"/>
              <a:t>8</a:t>
            </a:fld>
            <a:endParaRPr/>
          </a:p>
        </p:txBody>
      </p:sp>
      <p:sp>
        <p:nvSpPr>
          <p:cNvPr id="147" name="Google Shape;147;p7"/>
          <p:cNvSpPr txBox="1">
            <a:spLocks noGrp="1"/>
          </p:cNvSpPr>
          <p:nvPr>
            <p:ph type="body" idx="1"/>
          </p:nvPr>
        </p:nvSpPr>
        <p:spPr>
          <a:xfrm>
            <a:off x="76200" y="914400"/>
            <a:ext cx="8610600" cy="5105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700"/>
              <a:buChar char="⚫"/>
            </a:pPr>
            <a:r>
              <a:rPr lang="en-US" sz="2000" b="1" u="sng" dirty="0">
                <a:latin typeface="Arial"/>
                <a:ea typeface="Arial"/>
                <a:cs typeface="Arial"/>
                <a:sym typeface="Arial"/>
              </a:rPr>
              <a:t>Hardware Domain</a:t>
            </a:r>
            <a:endParaRPr dirty="0"/>
          </a:p>
          <a:p>
            <a:pPr marL="274320" lvl="0" indent="-274320" algn="l" rtl="0">
              <a:spcBef>
                <a:spcPts val="580"/>
              </a:spcBef>
              <a:spcAft>
                <a:spcPts val="0"/>
              </a:spcAft>
              <a:buSzPts val="1700"/>
              <a:buFont typeface="Libre Franklin"/>
              <a:buAutoNum type="arabicPeriod"/>
            </a:pPr>
            <a:r>
              <a:rPr lang="en-US" sz="2000" dirty="0">
                <a:latin typeface="Sans Serif "/>
                <a:ea typeface="Arial"/>
                <a:cs typeface="Arial"/>
                <a:sym typeface="Arial"/>
              </a:rPr>
              <a:t>Microcontroller</a:t>
            </a:r>
            <a:endParaRPr sz="2000" dirty="0">
              <a:latin typeface="Sans Serif "/>
              <a:ea typeface="Arial"/>
              <a:cs typeface="Arial"/>
              <a:sym typeface="Arial"/>
            </a:endParaRPr>
          </a:p>
          <a:p>
            <a:pPr marL="274320" lvl="0" indent="-274320" algn="l" rtl="0">
              <a:spcBef>
                <a:spcPts val="580"/>
              </a:spcBef>
              <a:spcAft>
                <a:spcPts val="0"/>
              </a:spcAft>
              <a:buSzPts val="1700"/>
              <a:buFont typeface="Libre Franklin"/>
              <a:buAutoNum type="arabicPeriod"/>
            </a:pPr>
            <a:r>
              <a:rPr lang="en-US" sz="2000" dirty="0">
                <a:latin typeface="Sans Serif "/>
                <a:ea typeface="Arial"/>
                <a:cs typeface="Arial"/>
                <a:sym typeface="Arial"/>
              </a:rPr>
              <a:t>Sensors</a:t>
            </a:r>
            <a:endParaRPr sz="2000" dirty="0">
              <a:latin typeface="Sans Serif "/>
              <a:ea typeface="Arial"/>
              <a:cs typeface="Arial"/>
              <a:sym typeface="Arial"/>
            </a:endParaRPr>
          </a:p>
          <a:p>
            <a:pPr marL="274320" lvl="0" indent="-274320" algn="l" rtl="0">
              <a:spcBef>
                <a:spcPts val="580"/>
              </a:spcBef>
              <a:spcAft>
                <a:spcPts val="0"/>
              </a:spcAft>
              <a:buSzPts val="1700"/>
              <a:buFont typeface="Libre Franklin"/>
              <a:buAutoNum type="arabicPeriod"/>
            </a:pPr>
            <a:r>
              <a:rPr lang="en-US" sz="2000" dirty="0">
                <a:latin typeface="Sans Serif "/>
                <a:ea typeface="Arial"/>
                <a:cs typeface="Arial"/>
                <a:sym typeface="Arial"/>
              </a:rPr>
              <a:t>Data Processing</a:t>
            </a:r>
            <a:endParaRPr sz="2000" dirty="0">
              <a:latin typeface="Sans Serif "/>
              <a:ea typeface="Arial"/>
              <a:cs typeface="Arial"/>
              <a:sym typeface="Arial"/>
            </a:endParaRPr>
          </a:p>
          <a:p>
            <a:pPr marL="274320" lvl="0" indent="-274320" algn="l" rtl="0">
              <a:spcBef>
                <a:spcPts val="580"/>
              </a:spcBef>
              <a:spcAft>
                <a:spcPts val="0"/>
              </a:spcAft>
              <a:buSzPts val="1700"/>
              <a:buFont typeface="Libre Franklin"/>
              <a:buAutoNum type="arabicPeriod"/>
            </a:pPr>
            <a:r>
              <a:rPr lang="en-US" sz="2000" dirty="0">
                <a:latin typeface="Sans Serif "/>
                <a:ea typeface="Arial"/>
                <a:cs typeface="Arial"/>
                <a:sym typeface="Arial"/>
              </a:rPr>
              <a:t>Wireless Communication</a:t>
            </a:r>
            <a:endParaRPr sz="2000" dirty="0">
              <a:latin typeface="Sans Serif "/>
              <a:ea typeface="Arial"/>
              <a:cs typeface="Arial"/>
              <a:sym typeface="Arial"/>
            </a:endParaRPr>
          </a:p>
          <a:p>
            <a:pPr marL="274320" lvl="0" indent="-274320" algn="l" rtl="0">
              <a:spcBef>
                <a:spcPts val="580"/>
              </a:spcBef>
              <a:spcAft>
                <a:spcPts val="0"/>
              </a:spcAft>
              <a:buSzPts val="1700"/>
              <a:buFont typeface="Libre Franklin"/>
              <a:buAutoNum type="arabicPeriod"/>
            </a:pPr>
            <a:r>
              <a:rPr lang="en-US" sz="2000" dirty="0">
                <a:latin typeface="Sans Serif "/>
                <a:ea typeface="Arial"/>
                <a:cs typeface="Arial"/>
                <a:sym typeface="Arial"/>
              </a:rPr>
              <a:t>Remote Monitoring</a:t>
            </a:r>
            <a:endParaRPr sz="2000" dirty="0">
              <a:latin typeface="Sans Serif "/>
              <a:ea typeface="Arial"/>
              <a:cs typeface="Arial"/>
              <a:sym typeface="Arial"/>
            </a:endParaRPr>
          </a:p>
          <a:p>
            <a:pPr marL="0" lvl="0" indent="0" algn="l" rtl="0">
              <a:spcBef>
                <a:spcPts val="580"/>
              </a:spcBef>
              <a:spcAft>
                <a:spcPts val="0"/>
              </a:spcAft>
              <a:buSzPts val="1360"/>
              <a:buNone/>
            </a:pPr>
            <a:endParaRPr sz="1600" dirty="0">
              <a:latin typeface="Arial"/>
              <a:ea typeface="Arial"/>
              <a:cs typeface="Arial"/>
              <a:sym typeface="Arial"/>
            </a:endParaRPr>
          </a:p>
          <a:p>
            <a:pPr marL="274320" lvl="0" indent="-274320" algn="l" rtl="0">
              <a:lnSpc>
                <a:spcPct val="150000"/>
              </a:lnSpc>
              <a:spcBef>
                <a:spcPts val="580"/>
              </a:spcBef>
              <a:spcAft>
                <a:spcPts val="0"/>
              </a:spcAft>
              <a:buSzPts val="1700"/>
              <a:buChar char="⚫"/>
            </a:pPr>
            <a:r>
              <a:rPr lang="en-US" sz="2000" b="1" u="sng" dirty="0">
                <a:latin typeface="Arial"/>
                <a:ea typeface="Arial"/>
                <a:cs typeface="Arial"/>
                <a:sym typeface="Arial"/>
              </a:rPr>
              <a:t>Software domain</a:t>
            </a:r>
            <a:endParaRPr dirty="0"/>
          </a:p>
          <a:p>
            <a:pPr marL="342900" lvl="0" indent="-342900" algn="l" rtl="0">
              <a:spcBef>
                <a:spcPts val="580"/>
              </a:spcBef>
              <a:spcAft>
                <a:spcPts val="0"/>
              </a:spcAft>
              <a:buSzPts val="1700"/>
              <a:buFont typeface="Libre Franklin"/>
              <a:buAutoNum type="arabicPeriod"/>
            </a:pPr>
            <a:r>
              <a:rPr lang="en-IN" sz="2000" b="1" dirty="0">
                <a:latin typeface="+mj-lt"/>
              </a:rPr>
              <a:t>Embedded Software for IoT Devices</a:t>
            </a:r>
            <a:r>
              <a:rPr lang="en-US" sz="2000" dirty="0">
                <a:latin typeface="Arial"/>
                <a:ea typeface="Arial"/>
                <a:cs typeface="Arial"/>
                <a:sym typeface="Arial"/>
              </a:rPr>
              <a:t>: </a:t>
            </a:r>
            <a:r>
              <a:rPr lang="en-US" sz="1800" dirty="0">
                <a:latin typeface="Times New Roman" panose="02020603050405020304" pitchFamily="18" charset="0"/>
                <a:cs typeface="Times New Roman" panose="02020603050405020304" pitchFamily="18" charset="0"/>
              </a:rPr>
              <a:t>This domain focuses on the software required to program IoT devices (e.g., microcontrollers, sensors, and actuators)</a:t>
            </a:r>
            <a:r>
              <a:rPr lang="en-US" sz="1400" dirty="0">
                <a:latin typeface="Times New Roman" panose="02020603050405020304" pitchFamily="18" charset="0"/>
                <a:cs typeface="Times New Roman" panose="02020603050405020304" pitchFamily="18" charset="0"/>
              </a:rPr>
              <a:t>.</a:t>
            </a:r>
          </a:p>
          <a:p>
            <a:pPr marL="0" lvl="0" indent="0" algn="l" rtl="0">
              <a:spcBef>
                <a:spcPts val="580"/>
              </a:spcBef>
              <a:spcAft>
                <a:spcPts val="0"/>
              </a:spcAft>
              <a:buSzPts val="1700"/>
              <a:buNone/>
            </a:pPr>
            <a:r>
              <a:rPr lang="en-US" sz="1800" b="1" dirty="0">
                <a:solidFill>
                  <a:srgbClr val="FF0000"/>
                </a:solidFill>
                <a:latin typeface="Arial"/>
                <a:cs typeface="Arial"/>
                <a:sym typeface="Arial"/>
              </a:rPr>
              <a:t>2</a:t>
            </a:r>
            <a:r>
              <a:rPr lang="en-US" sz="2000" dirty="0">
                <a:latin typeface="Arial"/>
                <a:cs typeface="Arial"/>
                <a:sym typeface="Arial"/>
              </a:rPr>
              <a:t>.  </a:t>
            </a:r>
            <a:r>
              <a:rPr lang="en-US" sz="2000" b="1" dirty="0">
                <a:latin typeface="+mj-lt"/>
              </a:rPr>
              <a:t>IoT Communication Protocols and Security Software</a:t>
            </a:r>
            <a:r>
              <a:rPr lang="en-US" sz="2000" dirty="0">
                <a:latin typeface="Arial"/>
                <a:ea typeface="Arial"/>
                <a:cs typeface="Arial"/>
                <a:sym typeface="Arial"/>
              </a:rPr>
              <a:t>: </a:t>
            </a:r>
            <a:r>
              <a:rPr lang="en-US" sz="1800" dirty="0">
                <a:latin typeface="Times New Roman" panose="02020603050405020304" pitchFamily="18" charset="0"/>
                <a:ea typeface="Arial"/>
                <a:cs typeface="Times New Roman" panose="02020603050405020304" pitchFamily="18" charset="0"/>
                <a:sym typeface="Arial"/>
              </a:rPr>
              <a:t>T</a:t>
            </a:r>
            <a:r>
              <a:rPr lang="en-US" sz="1800" dirty="0">
                <a:latin typeface="Times New Roman" panose="02020603050405020304" pitchFamily="18" charset="0"/>
                <a:cs typeface="Times New Roman" panose="02020603050405020304" pitchFamily="18" charset="0"/>
              </a:rPr>
              <a:t>he software                                  that has reliable communication between IoT devices, edge systems.</a:t>
            </a:r>
            <a:endParaRPr sz="1800" dirty="0">
              <a:latin typeface="Times New Roman" panose="02020603050405020304" pitchFamily="18" charset="0"/>
              <a:cs typeface="Times New Roman" panose="02020603050405020304" pitchFamily="18" charset="0"/>
            </a:endParaRPr>
          </a:p>
          <a:p>
            <a:pPr marL="342900" lvl="0" indent="-234950" algn="l" rtl="0">
              <a:spcBef>
                <a:spcPts val="580"/>
              </a:spcBef>
              <a:spcAft>
                <a:spcPts val="0"/>
              </a:spcAft>
              <a:buSzPts val="1700"/>
              <a:buFont typeface="Libre Franklin"/>
              <a:buNone/>
            </a:pPr>
            <a:endParaRPr sz="2000" dirty="0">
              <a:latin typeface="Arial"/>
              <a:ea typeface="Arial"/>
              <a:cs typeface="Arial"/>
              <a:sym typeface="Arial"/>
            </a:endParaRPr>
          </a:p>
          <a:p>
            <a:pPr marL="342900" lvl="0" indent="-245745" algn="l" rtl="0">
              <a:spcBef>
                <a:spcPts val="580"/>
              </a:spcBef>
              <a:spcAft>
                <a:spcPts val="0"/>
              </a:spcAft>
              <a:buSzPts val="1530"/>
              <a:buFont typeface="Libre Franklin"/>
              <a:buNone/>
            </a:pPr>
            <a:endParaRPr sz="1800" dirty="0">
              <a:latin typeface="Arial"/>
              <a:ea typeface="Arial"/>
              <a:cs typeface="Arial"/>
              <a:sym typeface="Arial"/>
            </a:endParaRPr>
          </a:p>
          <a:p>
            <a:pPr marL="0" lvl="0" indent="0" algn="l" rtl="0">
              <a:spcBef>
                <a:spcPts val="580"/>
              </a:spcBef>
              <a:spcAft>
                <a:spcPts val="0"/>
              </a:spcAft>
              <a:buSzPts val="1360"/>
              <a:buNone/>
            </a:pPr>
            <a:endParaRPr sz="1600" dirty="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495300" y="-177645"/>
            <a:ext cx="8153400" cy="792162"/>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chemeClr val="dk1"/>
              </a:buClr>
              <a:buSzPts val="3200"/>
              <a:buFont typeface="Times New Roman"/>
              <a:buNone/>
            </a:pPr>
            <a:r>
              <a:rPr lang="en-US" sz="3200" b="1" dirty="0">
                <a:solidFill>
                  <a:schemeClr val="dk1"/>
                </a:solidFill>
                <a:latin typeface="Times New Roman"/>
                <a:cs typeface="Times New Roman"/>
                <a:sym typeface="Times New Roman"/>
              </a:rPr>
              <a:t>Block Diagram:</a:t>
            </a:r>
            <a:endParaRPr dirty="0"/>
          </a:p>
        </p:txBody>
      </p:sp>
      <p:pic>
        <p:nvPicPr>
          <p:cNvPr id="5" name="Picture 4">
            <a:extLst>
              <a:ext uri="{FF2B5EF4-FFF2-40B4-BE49-F238E27FC236}">
                <a16:creationId xmlns:a16="http://schemas.microsoft.com/office/drawing/2014/main" id="{232EA922-9D43-A21C-78FB-7C5C7AA61806}"/>
              </a:ext>
            </a:extLst>
          </p:cNvPr>
          <p:cNvPicPr>
            <a:picLocks noChangeAspect="1"/>
          </p:cNvPicPr>
          <p:nvPr/>
        </p:nvPicPr>
        <p:blipFill>
          <a:blip r:embed="rId3"/>
          <a:stretch>
            <a:fillRect/>
          </a:stretch>
        </p:blipFill>
        <p:spPr>
          <a:xfrm>
            <a:off x="599769" y="437535"/>
            <a:ext cx="8153400" cy="59829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66E5F-45B0-C92C-14FA-4B62FB0B1B08}"/>
              </a:ext>
            </a:extLst>
          </p:cNvPr>
          <p:cNvSpPr>
            <a:spLocks noGrp="1"/>
          </p:cNvSpPr>
          <p:nvPr>
            <p:ph type="title"/>
          </p:nvPr>
        </p:nvSpPr>
        <p:spPr>
          <a:xfrm>
            <a:off x="471948" y="190500"/>
            <a:ext cx="7610168" cy="576416"/>
          </a:xfrm>
        </p:spPr>
        <p:txBody>
          <a:bodyPr>
            <a:normAutofit fontScale="90000"/>
          </a:bodyPr>
          <a:lstStyle/>
          <a:p>
            <a:r>
              <a:rPr lang="en-US"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1BDCFC5-F2C3-A5FA-6A23-BA9ED3A4662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sp>
        <p:nvSpPr>
          <p:cNvPr id="4" name="Text Placeholder 3">
            <a:extLst>
              <a:ext uri="{FF2B5EF4-FFF2-40B4-BE49-F238E27FC236}">
                <a16:creationId xmlns:a16="http://schemas.microsoft.com/office/drawing/2014/main" id="{50D9C798-28A0-F64C-6E9C-4D4AB6D0AC38}"/>
              </a:ext>
            </a:extLst>
          </p:cNvPr>
          <p:cNvSpPr>
            <a:spLocks noGrp="1"/>
          </p:cNvSpPr>
          <p:nvPr>
            <p:ph type="body" idx="1"/>
          </p:nvPr>
        </p:nvSpPr>
        <p:spPr>
          <a:xfrm>
            <a:off x="471948" y="766916"/>
            <a:ext cx="8214852" cy="5252884"/>
          </a:xfrm>
        </p:spPr>
        <p:txBody>
          <a:bodyPr/>
          <a:lstStyle/>
          <a:p>
            <a:endParaRPr lang="en-US" dirty="0"/>
          </a:p>
        </p:txBody>
      </p:sp>
      <p:pic>
        <p:nvPicPr>
          <p:cNvPr id="6" name="Picture 5">
            <a:extLst>
              <a:ext uri="{FF2B5EF4-FFF2-40B4-BE49-F238E27FC236}">
                <a16:creationId xmlns:a16="http://schemas.microsoft.com/office/drawing/2014/main" id="{83F46E90-FB65-FC10-C569-D5688452D43C}"/>
              </a:ext>
            </a:extLst>
          </p:cNvPr>
          <p:cNvPicPr>
            <a:picLocks noChangeAspect="1"/>
          </p:cNvPicPr>
          <p:nvPr/>
        </p:nvPicPr>
        <p:blipFill>
          <a:blip r:embed="rId2"/>
          <a:srcRect r="8821" b="28368"/>
          <a:stretch/>
        </p:blipFill>
        <p:spPr>
          <a:xfrm rot="16200000">
            <a:off x="1295828" y="418097"/>
            <a:ext cx="2514602" cy="3507206"/>
          </a:xfrm>
          <a:prstGeom prst="rect">
            <a:avLst/>
          </a:prstGeom>
        </p:spPr>
      </p:pic>
      <p:pic>
        <p:nvPicPr>
          <p:cNvPr id="8" name="Picture 7">
            <a:extLst>
              <a:ext uri="{FF2B5EF4-FFF2-40B4-BE49-F238E27FC236}">
                <a16:creationId xmlns:a16="http://schemas.microsoft.com/office/drawing/2014/main" id="{8791A7CC-8EEA-A0E6-96C3-0D0854F047A9}"/>
              </a:ext>
            </a:extLst>
          </p:cNvPr>
          <p:cNvPicPr>
            <a:picLocks noChangeAspect="1"/>
          </p:cNvPicPr>
          <p:nvPr/>
        </p:nvPicPr>
        <p:blipFill>
          <a:blip r:embed="rId3"/>
          <a:srcRect l="1" t="27957" r="-11341"/>
          <a:stretch/>
        </p:blipFill>
        <p:spPr>
          <a:xfrm rot="5400000">
            <a:off x="4846673" y="689744"/>
            <a:ext cx="2855932" cy="3280659"/>
          </a:xfrm>
          <a:prstGeom prst="rect">
            <a:avLst/>
          </a:prstGeom>
        </p:spPr>
      </p:pic>
      <p:sp>
        <p:nvSpPr>
          <p:cNvPr id="13" name="TextBox 12">
            <a:extLst>
              <a:ext uri="{FF2B5EF4-FFF2-40B4-BE49-F238E27FC236}">
                <a16:creationId xmlns:a16="http://schemas.microsoft.com/office/drawing/2014/main" id="{808EA726-7DA8-2469-1034-D8274E36E4A1}"/>
              </a:ext>
            </a:extLst>
          </p:cNvPr>
          <p:cNvSpPr txBox="1"/>
          <p:nvPr/>
        </p:nvSpPr>
        <p:spPr>
          <a:xfrm>
            <a:off x="1229031" y="3602839"/>
            <a:ext cx="6223820" cy="307777"/>
          </a:xfrm>
          <a:prstGeom prst="rect">
            <a:avLst/>
          </a:prstGeom>
          <a:noFill/>
        </p:spPr>
        <p:txBody>
          <a:bodyPr wrap="square" rtlCol="0">
            <a:spAutoFit/>
          </a:bodyPr>
          <a:lstStyle/>
          <a:p>
            <a:r>
              <a:rPr lang="en-US" dirty="0"/>
              <a:t>                                     Output : Overload, on, off.</a:t>
            </a:r>
            <a:endParaRPr lang="en-IN" dirty="0"/>
          </a:p>
        </p:txBody>
      </p:sp>
    </p:spTree>
    <p:extLst>
      <p:ext uri="{BB962C8B-B14F-4D97-AF65-F5344CB8AC3E}">
        <p14:creationId xmlns:p14="http://schemas.microsoft.com/office/powerpoint/2010/main" val="217695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heel(1)">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91425" anchor="b" anchorCtr="0">
            <a:normAutofit fontScale="90000"/>
          </a:bodyPr>
          <a:lstStyle/>
          <a:p>
            <a:pPr marL="0" lvl="0" indent="0" algn="l" rtl="0">
              <a:spcBef>
                <a:spcPts val="0"/>
              </a:spcBef>
              <a:spcAft>
                <a:spcPts val="0"/>
              </a:spcAft>
              <a:buClr>
                <a:schemeClr val="dk1"/>
              </a:buClr>
              <a:buSzPct val="100000"/>
              <a:buFont typeface="Times New Roman"/>
              <a:buNone/>
            </a:pPr>
            <a:r>
              <a:rPr lang="en-US" sz="4000" b="1">
                <a:solidFill>
                  <a:schemeClr val="dk1"/>
                </a:solidFill>
                <a:latin typeface="Times New Roman"/>
                <a:ea typeface="Times New Roman"/>
                <a:cs typeface="Times New Roman"/>
                <a:sym typeface="Times New Roman"/>
              </a:rPr>
              <a:t>References</a:t>
            </a:r>
            <a:endParaRPr sz="1600"/>
          </a:p>
        </p:txBody>
      </p:sp>
      <p:sp>
        <p:nvSpPr>
          <p:cNvPr id="159" name="Google Shape;159;p9"/>
          <p:cNvSpPr txBox="1"/>
          <p:nvPr/>
        </p:nvSpPr>
        <p:spPr>
          <a:xfrm>
            <a:off x="647700" y="838200"/>
            <a:ext cx="7848600" cy="7665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a:buChar char="•"/>
            </a:pPr>
            <a:r>
              <a:rPr lang="en-US" sz="2000">
                <a:solidFill>
                  <a:schemeClr val="dk1"/>
                </a:solidFill>
              </a:rPr>
              <a:t> S. Kumar, A. Singh, "IoT-Based Predictive Maintenance for Smart Manufacturing," </a:t>
            </a:r>
            <a:r>
              <a:rPr lang="en-US" sz="2000" i="1">
                <a:solidFill>
                  <a:schemeClr val="dk1"/>
                </a:solidFill>
              </a:rPr>
              <a:t>IEEE Internet of Things Journal</a:t>
            </a:r>
            <a:r>
              <a:rPr lang="en-US" sz="2000">
                <a:solidFill>
                  <a:schemeClr val="dk1"/>
                </a:solidFill>
              </a:rPr>
              <a:t>, 2022.</a:t>
            </a:r>
            <a:endParaRPr sz="2000"/>
          </a:p>
          <a:p>
            <a:pPr marL="285750" marR="0" lvl="0" indent="-285750" algn="l" rtl="0">
              <a:lnSpc>
                <a:spcPct val="150000"/>
              </a:lnSpc>
              <a:spcBef>
                <a:spcPts val="0"/>
              </a:spcBef>
              <a:spcAft>
                <a:spcPts val="0"/>
              </a:spcAft>
              <a:buClr>
                <a:schemeClr val="dk1"/>
              </a:buClr>
              <a:buSzPts val="2000"/>
              <a:buFont typeface="Arial"/>
              <a:buChar char="•"/>
            </a:pPr>
            <a:r>
              <a:rPr lang="en-US" sz="2000">
                <a:solidFill>
                  <a:schemeClr val="dk1"/>
                </a:solidFill>
              </a:rPr>
              <a:t> P. Verma, J. Patel, "Smart IoT Systems for Industrial Automation and Remote Monitoring," </a:t>
            </a:r>
            <a:r>
              <a:rPr lang="en-US" sz="2000" i="1">
                <a:solidFill>
                  <a:schemeClr val="dk1"/>
                </a:solidFill>
              </a:rPr>
              <a:t>International Journal of Scientific Research in Engineering</a:t>
            </a:r>
            <a:r>
              <a:rPr lang="en-US" sz="2000">
                <a:solidFill>
                  <a:schemeClr val="dk1"/>
                </a:solidFill>
              </a:rPr>
              <a:t>, 2021.</a:t>
            </a:r>
            <a:endParaRPr sz="2000"/>
          </a:p>
          <a:p>
            <a:pPr marL="285750" marR="0" lvl="0" indent="-285750" algn="l" rtl="0">
              <a:lnSpc>
                <a:spcPct val="150000"/>
              </a:lnSpc>
              <a:spcBef>
                <a:spcPts val="0"/>
              </a:spcBef>
              <a:spcAft>
                <a:spcPts val="0"/>
              </a:spcAft>
              <a:buClr>
                <a:schemeClr val="dk1"/>
              </a:buClr>
              <a:buSzPts val="2000"/>
              <a:buFont typeface="Arial"/>
              <a:buChar char="•"/>
            </a:pPr>
            <a:r>
              <a:rPr lang="en-US" sz="2000">
                <a:solidFill>
                  <a:schemeClr val="dk1"/>
                </a:solidFill>
              </a:rPr>
              <a:t>M. Ali, R. Gupta, "AI and ML Techniques for Fault Detection in Industrial IoT," </a:t>
            </a:r>
            <a:r>
              <a:rPr lang="en-US" sz="2000" i="1">
                <a:solidFill>
                  <a:schemeClr val="dk1"/>
                </a:solidFill>
              </a:rPr>
              <a:t>Springer Advances in AI Research</a:t>
            </a:r>
            <a:r>
              <a:rPr lang="en-US" sz="2000">
                <a:solidFill>
                  <a:schemeClr val="dk1"/>
                </a:solidFill>
              </a:rPr>
              <a:t>, 2023</a:t>
            </a:r>
            <a:r>
              <a:rPr lang="en-US" sz="1100">
                <a:solidFill>
                  <a:schemeClr val="dk1"/>
                </a:solidFill>
              </a:rPr>
              <a:t>.</a:t>
            </a:r>
            <a:endParaRPr sz="1900"/>
          </a:p>
          <a:p>
            <a:pPr marL="285750" marR="0" lvl="0" indent="-298450" algn="l" rtl="0">
              <a:lnSpc>
                <a:spcPct val="15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S. D., J. S., et al.</a:t>
            </a:r>
            <a:r>
              <a:rPr lang="en-US" sz="2200" i="1">
                <a:solidFill>
                  <a:schemeClr val="dk1"/>
                </a:solidFill>
                <a:latin typeface="Calibri"/>
                <a:ea typeface="Calibri"/>
                <a:cs typeface="Calibri"/>
                <a:sym typeface="Calibri"/>
              </a:rPr>
              <a:t>Published in:</a:t>
            </a:r>
            <a:r>
              <a:rPr lang="en-US" sz="2200">
                <a:solidFill>
                  <a:schemeClr val="dk1"/>
                </a:solidFill>
                <a:latin typeface="Calibri"/>
                <a:ea typeface="Calibri"/>
                <a:cs typeface="Calibri"/>
                <a:sym typeface="Calibri"/>
              </a:rPr>
              <a:t> </a:t>
            </a:r>
            <a:r>
              <a:rPr lang="en-US" sz="2200" i="1">
                <a:solidFill>
                  <a:schemeClr val="dk1"/>
                </a:solidFill>
                <a:latin typeface="Calibri"/>
                <a:ea typeface="Calibri"/>
                <a:cs typeface="Calibri"/>
                <a:sym typeface="Calibri"/>
              </a:rPr>
              <a:t>Second International Conference on Electronics and Renewable Systems (ICEARS)</a:t>
            </a:r>
            <a:r>
              <a:rPr lang="en-US" sz="2200">
                <a:solidFill>
                  <a:schemeClr val="dk1"/>
                </a:solidFill>
                <a:latin typeface="Calibri"/>
                <a:ea typeface="Calibri"/>
                <a:cs typeface="Calibri"/>
                <a:sym typeface="Calibri"/>
              </a:rPr>
              <a:t>, 2023.</a:t>
            </a:r>
            <a:endParaRPr sz="2200"/>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 Muhammad Yousuf, Turki Alsuwian, et al.</a:t>
            </a:r>
            <a:r>
              <a:rPr lang="en-US" sz="2000" i="1">
                <a:solidFill>
                  <a:schemeClr val="dk1"/>
                </a:solidFill>
              </a:rPr>
              <a:t>Published in:</a:t>
            </a:r>
            <a:r>
              <a:rPr lang="en-US" sz="2000">
                <a:solidFill>
                  <a:schemeClr val="dk1"/>
                </a:solidFill>
              </a:rPr>
              <a:t> </a:t>
            </a:r>
            <a:r>
              <a:rPr lang="en-US" sz="2000" i="1">
                <a:solidFill>
                  <a:schemeClr val="dk1"/>
                </a:solidFill>
              </a:rPr>
              <a:t>Measurement and Control</a:t>
            </a:r>
            <a:r>
              <a:rPr lang="en-US" sz="2000">
                <a:solidFill>
                  <a:schemeClr val="dk1"/>
                </a:solidFill>
              </a:rPr>
              <a:t>, 2023.</a:t>
            </a:r>
            <a:endParaRPr sz="2000">
              <a:solidFill>
                <a:schemeClr val="dk1"/>
              </a:solidFill>
              <a:latin typeface="Calibri"/>
              <a:ea typeface="Calibri"/>
              <a:cs typeface="Calibri"/>
              <a:sym typeface="Calibri"/>
            </a:endParaRPr>
          </a:p>
          <a:p>
            <a:pPr marL="285750" marR="0" lvl="0" indent="-158750" algn="l" rtl="0">
              <a:lnSpc>
                <a:spcPct val="150000"/>
              </a:lnSpc>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endParaRPr sz="1800">
              <a:solidFill>
                <a:schemeClr val="dk1"/>
              </a:solidFill>
              <a:latin typeface="Libre Baskerville"/>
              <a:ea typeface="Libre Baskerville"/>
              <a:cs typeface="Libre Baskerville"/>
              <a:sym typeface="Libre Baskerville"/>
            </a:endParaRPr>
          </a:p>
          <a:p>
            <a:pPr marL="285750" marR="0" lvl="0" indent="-171450" algn="l" rtl="0">
              <a:lnSpc>
                <a:spcPct val="150000"/>
              </a:lnSpc>
              <a:spcBef>
                <a:spcPts val="0"/>
              </a:spcBef>
              <a:spcAft>
                <a:spcPts val="0"/>
              </a:spcAft>
              <a:buClr>
                <a:schemeClr val="dk1"/>
              </a:buClr>
              <a:buSzPts val="1800"/>
              <a:buFont typeface="Arial"/>
              <a:buNone/>
            </a:pPr>
            <a:endParaRPr sz="1800">
              <a:solidFill>
                <a:schemeClr val="dk1"/>
              </a:solidFill>
              <a:latin typeface="Libre Baskerville"/>
              <a:ea typeface="Libre Baskerville"/>
              <a:cs typeface="Libre Baskerville"/>
              <a:sym typeface="Libre Baskerville"/>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Libre Baskerville"/>
              <a:ea typeface="Libre Baskerville"/>
              <a:cs typeface="Libre Baskerville"/>
              <a:sym typeface="Libre Baskerville"/>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endParaRPr sz="180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p:nvPr/>
        </p:nvSpPr>
        <p:spPr>
          <a:xfrm>
            <a:off x="3048000" y="2721114"/>
            <a:ext cx="3048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chemeClr val="dk1"/>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2825</TotalTime>
  <Words>854</Words>
  <Application>Microsoft Office PowerPoint</Application>
  <PresentationFormat>On-screen Show (4:3)</PresentationFormat>
  <Paragraphs>91</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Noto Sans Symbols</vt:lpstr>
      <vt:lpstr>Libre Franklin</vt:lpstr>
      <vt:lpstr>Arial</vt:lpstr>
      <vt:lpstr>Libre Baskerville</vt:lpstr>
      <vt:lpstr>Times New Roman</vt:lpstr>
      <vt:lpstr>Calibri</vt:lpstr>
      <vt:lpstr>Sans Serif </vt:lpstr>
      <vt:lpstr>Equity</vt:lpstr>
      <vt:lpstr>Nuclear Power Plant Fault Detection Device Using IOT</vt:lpstr>
      <vt:lpstr>Abstract:</vt:lpstr>
      <vt:lpstr>Problem  Identification</vt:lpstr>
      <vt:lpstr>Introduction</vt:lpstr>
      <vt:lpstr>Existing System:</vt:lpstr>
      <vt:lpstr>Proposed work:</vt:lpstr>
      <vt:lpstr>Project Domain:</vt:lpstr>
      <vt:lpstr>Technological Stack:</vt:lpstr>
      <vt:lpstr>Block Diagram:</vt:lpstr>
      <vt:lpstr>Output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anandakumar</dc:creator>
  <cp:lastModifiedBy>Vikash R</cp:lastModifiedBy>
  <cp:revision>8</cp:revision>
  <dcterms:created xsi:type="dcterms:W3CDTF">2014-07-30T05:52:09Z</dcterms:created>
  <dcterms:modified xsi:type="dcterms:W3CDTF">2025-04-24T16:55:45Z</dcterms:modified>
</cp:coreProperties>
</file>